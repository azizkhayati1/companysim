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0:00   ·   0:20  ══</a:t>
            </a:r>
          </a:p>
          <a:p/>
          <a:p>
            <a:r>
              <a:t>SAY</a:t>
            </a:r>
          </a:p>
          <a:p>
            <a:r>
              <a:t>  •  Name, and where the internship was.</a:t>
            </a:r>
          </a:p>
          <a:p>
            <a:r>
              <a:t>  •  One sentence on what the next 24 minutes are for.</a:t>
            </a:r>
          </a:p>
          <a:p/>
          <a:p>
            <a:r>
              <a:t>THE ONE THING</a:t>
            </a:r>
          </a:p>
          <a:p>
            <a:r>
              <a:t>  ►  Do not narrate the agenda. An agenda slide spends 30 seconds telling people they will later learn something.</a:t>
            </a:r>
          </a:p>
          <a:p/>
          <a:p>
            <a:r>
              <a:t>NEXT  →  02 — the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0:20   ·   1:00  ══</a:t>
            </a:r>
          </a:p>
          <a:p/>
          <a:p>
            <a:r>
              <a:t>SAY</a:t>
            </a:r>
          </a:p>
          <a:p>
            <a:r>
              <a:t>  •  One resignation costs recruitment, onboarding, lost productivity.</a:t>
            </a:r>
          </a:p>
          <a:p>
            <a:r>
              <a:t>  •  And the knowledge that left, which nobody wrote down.</a:t>
            </a:r>
          </a:p>
          <a:p>
            <a:r>
              <a:t>  •  Expensive, consequential — and partly predictable.</a:t>
            </a:r>
          </a:p>
          <a:p>
            <a:r>
              <a:t>  •  That is why every HR platform wants a turnover model.</a:t>
            </a:r>
          </a:p>
          <a:p/>
          <a:p>
            <a:r>
              <a:t>THE ONE THING</a:t>
            </a:r>
          </a:p>
          <a:p>
            <a:r>
              <a:t>  ►  Open on cost, not technology. The commercial half of the room needs a reason to listen before any architecture appears.</a:t>
            </a:r>
          </a:p>
          <a:p/>
          <a:p>
            <a:r>
              <a:t>WATCH OUT</a:t>
            </a:r>
          </a:p>
          <a:p>
            <a:r>
              <a:t>  !  FILL THIS IN with a sourced figure. An invented number is the first thing a jury challenges — and the only number on the slide.</a:t>
            </a:r>
          </a:p>
          <a:p/>
          <a:p>
            <a:r>
              <a:t>IF ASKED</a:t>
            </a:r>
          </a:p>
          <a:p>
            <a:r>
              <a:t>  Q  Where does that figure come from?</a:t>
            </a:r>
          </a:p>
          <a:p>
            <a:r>
              <a:t>  A  Name the source out loud. If you are unsure of it, say the range rather than the point estimate.</a:t>
            </a:r>
          </a:p>
          <a:p/>
          <a:p>
            <a:r>
              <a:t>NEXT  →  03 — but the data is unreadable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1:20   ·   1:20  ══</a:t>
            </a:r>
          </a:p>
          <a:p/>
          <a:p>
            <a:r>
              <a:t>SAY</a:t>
            </a:r>
          </a:p>
          <a:p>
            <a:r>
              <a:t>  •  Here is what surprised me. The obstacle is not modelling.</a:t>
            </a:r>
          </a:p>
          <a:p>
            <a:r>
              <a:t>  •  Published work runs on a few public datasets. The most-used one has about 1,470 rows — and is itself synthetic.</a:t>
            </a:r>
          </a:p>
          <a:p>
            <a:r>
              <a:t>  •  Meanwhile a twenty-year-old company holds thousands of reviews, every resignation letter it ever received, and a great deal of paper.</a:t>
            </a:r>
          </a:p>
          <a:p>
            <a:r>
              <a:t>  •  None of it reaches any model.</a:t>
            </a:r>
          </a:p>
          <a:p/>
          <a:p>
            <a:r>
              <a:t>THE ONE THING</a:t>
            </a:r>
          </a:p>
          <a:p>
            <a:r>
              <a:t>  ►  Say the last line slowly. It is the thesis of the whole talk, and everything after it is a consequence.</a:t>
            </a:r>
          </a:p>
          <a:p/>
          <a:p>
            <a:r>
              <a:t>POINT AT</a:t>
            </a:r>
          </a:p>
          <a:p>
            <a:r>
              <a:t>  ·  The three archive lines, then the quote</a:t>
            </a:r>
          </a:p>
          <a:p/>
          <a:p>
            <a:r>
              <a:t>NEXT  →  04 — what already existed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2:40   ·   1:20  ══</a:t>
            </a:r>
          </a:p>
          <a:p/>
          <a:p>
            <a:r>
              <a:t>SAY</a:t>
            </a:r>
          </a:p>
          <a:p>
            <a:r>
              <a:t>  •  The platform simulates an organisation week by week, so employees actually resign inside the model.</a:t>
            </a:r>
          </a:p>
          <a:p>
            <a:r>
              <a:t>  •  That means the classifier trains on real events rather than a risk score somebody assigned.</a:t>
            </a:r>
          </a:p>
          <a:p>
            <a:r>
              <a:t>  •  It worked. It had one problem: everything in it came from its own simulation. Nothing real ever entered.</a:t>
            </a:r>
          </a:p>
          <a:p/>
          <a:p>
            <a:r>
              <a:t>THE ONE THING</a:t>
            </a:r>
          </a:p>
          <a:p>
            <a:r>
              <a:t>  ►  The difference between learning something and restating an assumption.</a:t>
            </a:r>
          </a:p>
          <a:p/>
          <a:p>
            <a:r>
              <a:t>WATCH OUT</a:t>
            </a:r>
          </a:p>
          <a:p>
            <a:r>
              <a:t>  !  80 seconds. Resist explaining the simulation — it is context, not your contribution. If you are running long, this is the first cut.</a:t>
            </a:r>
          </a:p>
          <a:p/>
          <a:p>
            <a:r>
              <a:t>NEXT  →  05 —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4:00   ·   1:20  ══</a:t>
            </a:r>
          </a:p>
          <a:p/>
          <a:p>
            <a:r>
              <a:t>SAY</a:t>
            </a:r>
          </a:p>
          <a:p>
            <a:r>
              <a:t>  •  When the scoring layer needed performance history, it had none.</a:t>
            </a:r>
          </a:p>
          <a:p>
            <a:r>
              <a:t>  •  So it supplied a neutral 3 out of 5 — for everybody.</a:t>
            </a:r>
          </a:p>
          <a:p>
            <a:r>
              <a:t>  •  Three of eighteen features were the same number for every employee. A tree never splits on them, so the effective count was fifteen.</a:t>
            </a:r>
          </a:p>
          <a:p>
            <a:r>
              <a:t>  •  And a declining rating is one of the more reliable early signals of a resignation. The missing signal was not an arbitrary one.</a:t>
            </a:r>
          </a:p>
          <a:p/>
          <a:p>
            <a:r>
              <a:t>THE ONE THING</a:t>
            </a:r>
          </a:p>
          <a:p>
            <a:r>
              <a:t>  ►  This is the pivot. From here the audience knows exactly what problem the next fifteen minutes solve.</a:t>
            </a:r>
          </a:p>
          <a:p/>
          <a:p>
            <a:r>
              <a:t>POINT AT</a:t>
            </a:r>
          </a:p>
          <a:p>
            <a:r>
              <a:t>  ·  The three constants, then the 3-of-18</a:t>
            </a:r>
          </a:p>
          <a:p/>
          <a:p>
            <a:r>
              <a:t>NEXT  →  06 — the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5:20   ·   1:40  ══</a:t>
            </a:r>
          </a:p>
          <a:p/>
          <a:p>
            <a:r>
              <a:t>SAY</a:t>
            </a:r>
          </a:p>
          <a:p>
            <a:r>
              <a:t>  •  Documents arrive as CSV, PDF, free text — or a photograph.</a:t>
            </a:r>
          </a:p>
          <a:p>
            <a:r>
              <a:t>  •  Structured files parse deterministically. A roster needs no model and no API key at all.</a:t>
            </a:r>
          </a:p>
          <a:p>
            <a:r>
              <a:t>  •  Prose goes to a language model. Paper goes through OCR.</a:t>
            </a:r>
          </a:p>
          <a:p>
            <a:r>
              <a:t>  •  All three routes end in the same place: a staging table.</a:t>
            </a:r>
          </a:p>
          <a:p>
            <a:r>
              <a:t>  •  There is no code path from extraction to a personnel record.</a:t>
            </a:r>
          </a:p>
          <a:p/>
          <a:p>
            <a:r>
              <a:t>THE ONE THING</a:t>
            </a:r>
          </a:p>
          <a:p>
            <a:r>
              <a:t>  ►  'No unreviewed write' is a property of the architecture, not a rule someone follows.</a:t>
            </a:r>
          </a:p>
          <a:p/>
          <a:p>
            <a:r>
              <a:t>POINT AT</a:t>
            </a:r>
          </a:p>
          <a:p>
            <a:r>
              <a:t>  ·  The STAGING box — it is the largest for a reason</a:t>
            </a:r>
          </a:p>
          <a:p>
            <a:r>
              <a:t>  ·  Then the HUMAN box</a:t>
            </a:r>
          </a:p>
          <a:p/>
          <a:p>
            <a:r>
              <a:t>WATCH OUT</a:t>
            </a:r>
          </a:p>
          <a:p>
            <a:r>
              <a:t>  !  You will point back at this slide three times. Make sure the room sees the staging box now.</a:t>
            </a:r>
          </a:p>
          <a:p/>
          <a:p>
            <a:r>
              <a:t>NEXT  →  07 —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7:00   ·   2:30  ══</a:t>
            </a:r>
          </a:p>
          <a:p/>
          <a:p>
            <a:r>
              <a:t>SAY</a:t>
            </a:r>
          </a:p>
          <a:p>
            <a:r>
              <a:t>  •  Narrate what is happening, not what you are clicking.</a:t>
            </a:r>
          </a:p>
          <a:p>
            <a:r>
              <a:t>  •  A photograph produces the same text a typed document would.</a:t>
            </a:r>
          </a:p>
          <a:p>
            <a:r>
              <a:t>  •  From there, nothing downstream is special-cased for paper.</a:t>
            </a:r>
          </a:p>
          <a:p>
            <a:r>
              <a:t>  •  Only the confidence differs — and it differs automatically.</a:t>
            </a:r>
          </a:p>
          <a:p/>
          <a:p>
            <a:r>
              <a:t>THE ONE THING</a:t>
            </a:r>
          </a:p>
          <a:p>
            <a:r>
              <a:t>  ►  Paper is a front door, not a second pipeline.</a:t>
            </a:r>
          </a:p>
          <a:p/>
          <a:p>
            <a:r>
              <a:t>POINT AT</a:t>
            </a:r>
          </a:p>
          <a:p>
            <a:r>
              <a:t>  ·  The OCR badge on the row</a:t>
            </a:r>
          </a:p>
          <a:p>
            <a:r>
              <a:t>  ·  The confidence figure when the facts stage</a:t>
            </a:r>
          </a:p>
          <a:p/>
          <a:p>
            <a:r>
              <a:t>WATCH OUT</a:t>
            </a:r>
          </a:p>
          <a:p>
            <a:r>
              <a:t>  !  This is a recording, on purpose. A live cloud call on conference wifi is a two-minute silence. Let it play; do not talk over the whole clip — narrate the first beat, then stop.</a:t>
            </a:r>
          </a:p>
          <a:p/>
          <a:p>
            <a:r>
              <a:t>IF ASKED</a:t>
            </a:r>
          </a:p>
          <a:p>
            <a:r>
              <a:t>  Q  How accurate is the transcription?</a:t>
            </a:r>
          </a:p>
          <a:p>
            <a:r>
              <a:t>  A  Honest answer: not measured against a real archive. That is why every fact from a photo is discounted rather than trusted.</a:t>
            </a:r>
          </a:p>
          <a:p>
            <a:r>
              <a:t>  Q  Why not just use Tesseract?</a:t>
            </a:r>
          </a:p>
          <a:p>
            <a:r>
              <a:t>  A  It is one of the four backends. A vision model reads for meaning, so it copes with skew and handwriting.</a:t>
            </a:r>
          </a:p>
          <a:p/>
          <a:p>
            <a:r>
              <a:t>NEXT  →  08 — principle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9:30   ·   1:20  ══</a:t>
            </a:r>
          </a:p>
          <a:p/>
          <a:p>
            <a:r>
              <a:t>SAY</a:t>
            </a:r>
          </a:p>
          <a:p>
            <a:r>
              <a:t>  •  Both parsers write only to the staging table.</a:t>
            </a:r>
          </a:p>
          <a:p>
            <a:r>
              <a:t>  •  The apply endpoint is the only writer of employee data, and it acts only on facts approved by identifier.</a:t>
            </a:r>
          </a:p>
          <a:p>
            <a:r>
              <a:t>  •  Every staged change carries its current value, the proposed value, a confidence — and the sentence it came from.</a:t>
            </a:r>
          </a:p>
          <a:p/>
          <a:p>
            <a:r>
              <a:t>THE ONE THING</a:t>
            </a:r>
          </a:p>
          <a:p>
            <a:r>
              <a:t>  ►  For a vendor holding client personnel data under GDPR this is not a nice-to-have. It is the difference between a feature you can sell and one legal will not let you ship.</a:t>
            </a:r>
          </a:p>
          <a:p/>
          <a:p>
            <a:r>
              <a:t>POINT AT</a:t>
            </a:r>
          </a:p>
          <a:p>
            <a:r>
              <a:t>  ·  The evidence column — approving is a decision, not an act of faith</a:t>
            </a:r>
          </a:p>
          <a:p/>
          <a:p>
            <a:r>
              <a:t>WATCH OUT</a:t>
            </a:r>
          </a:p>
          <a:p>
            <a:r>
              <a:t>  !  Say the GDPR line looking at the business half of the room. This is where a sceptical buyer relaxes.</a:t>
            </a:r>
          </a:p>
          <a:p/>
          <a:p>
            <a:r>
              <a:t>NEXT  →  09 — principle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10:50   ·   2:00  ══</a:t>
            </a:r>
          </a:p>
          <a:p/>
          <a:p>
            <a:r>
              <a:t>SAY</a:t>
            </a:r>
          </a:p>
          <a:p>
            <a:r>
              <a:t>  •  A resignation letter says the author was exhausted and unsupported.</a:t>
            </a:r>
          </a:p>
          <a:p>
            <a:r>
              <a:t>  •  Workload and manager support are legitimate features. So why not use them?</a:t>
            </a:r>
          </a:p>
          <a:p>
            <a:r>
              <a:t>  •  Because the letter is written AT the moment of the outcome.</a:t>
            </a:r>
          </a:p>
          <a:p>
            <a:r>
              <a:t>  •  A model trained on it learns that people who write about exhaustion in resignation letters resign. Excellent AUC. Zero predictive value — at scoring time no such letter exists.</a:t>
            </a:r>
          </a:p>
          <a:p>
            <a:r>
              <a:t>  •  So the schema has nowhere to put those values.</a:t>
            </a:r>
          </a:p>
          <a:p/>
          <a:p>
            <a:r>
              <a:t>THE ONE THING</a:t>
            </a:r>
          </a:p>
          <a:p>
            <a:r>
              <a:t>  ►  A confused model, a careless contributor, a bad prompt — none of them can leak through this path. The field is not there.</a:t>
            </a:r>
          </a:p>
          <a:p/>
          <a:p>
            <a:r>
              <a:t>POINT AT</a:t>
            </a:r>
          </a:p>
          <a:p>
            <a:r>
              <a:t>  ·  The four fields</a:t>
            </a:r>
          </a:p>
          <a:p>
            <a:r>
              <a:t>  ·  Then the two lines under them</a:t>
            </a:r>
          </a:p>
          <a:p/>
          <a:p>
            <a:r>
              <a:t>WATCH OUT</a:t>
            </a:r>
          </a:p>
          <a:p>
            <a:r>
              <a:t>  !  Two full minutes. This is the strongest technical idea in the talk. If a jury remembers one thing, make it this.</a:t>
            </a:r>
          </a:p>
          <a:p/>
          <a:p>
            <a:r>
              <a:t>IF ASKED</a:t>
            </a:r>
          </a:p>
          <a:p>
            <a:r>
              <a:t>  Q  Couldn't you just filter those fields out later?</a:t>
            </a:r>
          </a:p>
          <a:p>
            <a:r>
              <a:t>  A  You could, and it would work until someone forgot. A check that must be remembered eventually is not.</a:t>
            </a:r>
          </a:p>
          <a:p>
            <a:r>
              <a:t>  Q  Isn't the note text itself a feature?</a:t>
            </a:r>
          </a:p>
          <a:p>
            <a:r>
              <a:t>  A  It feeds sentiment analysis for humans to read, not the model's feature frame.</a:t>
            </a:r>
          </a:p>
          <a:p/>
          <a:p>
            <a:r>
              <a:t>NEXT  →  10 — principle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12:50   ·   1:20  ══</a:t>
            </a:r>
          </a:p>
          <a:p/>
          <a:p>
            <a:r>
              <a:t>SAY</a:t>
            </a:r>
          </a:p>
          <a:p>
            <a:r>
              <a:t>  •  An organisation never receives a resignation letter from someone who stayed.</a:t>
            </a:r>
          </a:p>
          <a:p>
            <a:r>
              <a:t>  •  So a training set built from letters alone is a hundred per cent positive. The model learns that everybody leaves.</a:t>
            </a:r>
          </a:p>
          <a:p>
            <a:r>
              <a:t>  •  Cohort construction refuses to build a training set unless a roster establishes who did not leave — and refuses outright above a fifty per cent base rate.</a:t>
            </a:r>
          </a:p>
          <a:p/>
          <a:p>
            <a:r>
              <a:t>THE ONE THING</a:t>
            </a:r>
          </a:p>
          <a:p>
            <a:r>
              <a:t>  ►  The roster is not an optional enrichment. It is what makes the labels mean anything at all.</a:t>
            </a:r>
          </a:p>
          <a:p/>
          <a:p>
            <a:r>
              <a:t>POINT AT</a:t>
            </a:r>
          </a:p>
          <a:p>
            <a:r>
              <a:t>  ·  100% on the left, then 5.99% on the right</a:t>
            </a:r>
          </a:p>
          <a:p/>
          <a:p>
            <a:r>
              <a:t>WATCH OUT</a:t>
            </a:r>
          </a:p>
          <a:p>
            <a:r>
              <a:t>  !  The most accessible idea in the talk — non-technical listeners follow it completely. If you must cut slide 09, this one survives.</a:t>
            </a:r>
          </a:p>
          <a:p/>
          <a:p>
            <a:r>
              <a:t>NEXT  →  11 — when the model lied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14:10   ·   1:20  ══</a:t>
            </a:r>
          </a:p>
          <a:p/>
          <a:p>
            <a:r>
              <a:t>SAY</a:t>
            </a:r>
          </a:p>
          <a:p>
            <a:r>
              <a:t>  •  My favourite failure.</a:t>
            </a:r>
          </a:p>
          <a:p>
            <a:r>
              <a:t>  •  The prompt told the model to report a missing field. It complied semantically and failed structurally — it put the refusal INSIDE the field.</a:t>
            </a:r>
          </a:p>
          <a:p>
            <a:r>
              <a:t>  •  Schema validation passed, because that is a perfectly valid string.</a:t>
            </a:r>
          </a:p>
          <a:p>
            <a:r>
              <a:t>  •  It staged a plausible-looking hire.</a:t>
            </a:r>
          </a:p>
          <a:p>
            <a:r>
              <a:t>  •  The fix was not a better prompt. The department is now resolved against departments that actually exist.</a:t>
            </a:r>
          </a:p>
          <a:p/>
          <a:p>
            <a:r>
              <a:t>THE ONE THING</a:t>
            </a:r>
          </a:p>
          <a:p>
            <a:r>
              <a:t>  ►  Prompt wording constrains one phrasing of a failure. A structural check constrains the whole class of it.</a:t>
            </a:r>
          </a:p>
          <a:p/>
          <a:p>
            <a:r>
              <a:t>POINT AT</a:t>
            </a:r>
          </a:p>
          <a:p>
            <a:r>
              <a:t>  ·  The string, then the line under it</a:t>
            </a:r>
          </a:p>
          <a:p/>
          <a:p>
            <a:r>
              <a:t>WATCH OUT</a:t>
            </a:r>
          </a:p>
          <a:p>
            <a:r>
              <a:t>  !  Tell this as an anecdote — it is the one place in the talk to sound amused. It does more work than any results slide, because it shows you tested adversarially.</a:t>
            </a:r>
          </a:p>
          <a:p/>
          <a:p>
            <a:r>
              <a:t>IF ASKED</a:t>
            </a:r>
          </a:p>
          <a:p>
            <a:r>
              <a:t>  Q  Would a better model have avoided it?</a:t>
            </a:r>
          </a:p>
          <a:p>
            <a:r>
              <a:t>  A  Maybe, on that phrasing. That is exactly why the fix is not a prompt.</a:t>
            </a:r>
          </a:p>
          <a:p/>
          <a:p>
            <a:r>
              <a:t>NEXT  →  12 — paper and portability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15:30   ·   1:20  ══</a:t>
            </a:r>
          </a:p>
          <a:p/>
          <a:p>
            <a:r>
              <a:t>SAY</a:t>
            </a:r>
          </a:p>
          <a:p>
            <a:r>
              <a:t>  •  Plenty of HR records are still paper.</a:t>
            </a:r>
          </a:p>
          <a:p>
            <a:r>
              <a:t>  •  A photograph produces the same text a typed document would, and travels the identical route.</a:t>
            </a:r>
          </a:p>
          <a:p>
            <a:r>
              <a:t>  •  What differs is confidence — and it differs automatically. OCR can turn a three into an eight in a salary, and nothing downstream would catch it, because both are valid numbers.</a:t>
            </a:r>
          </a:p>
          <a:p>
            <a:r>
              <a:t>  •  And the provider is a configuration setting, not a code decision.</a:t>
            </a:r>
          </a:p>
          <a:p/>
          <a:p>
            <a:r>
              <a:t>THE ONE THING</a:t>
            </a:r>
          </a:p>
          <a:p>
            <a:r>
              <a:t>  ►  A client who requires everything inside their own AWS account gets that without a code change.</a:t>
            </a:r>
          </a:p>
          <a:p/>
          <a:p>
            <a:r>
              <a:t>POINT AT</a:t>
            </a:r>
          </a:p>
          <a:p>
            <a:r>
              <a:t>  ·  0.7× on the left</a:t>
            </a:r>
          </a:p>
          <a:p>
            <a:r>
              <a:t>  ·  One environment variable on the right</a:t>
            </a:r>
          </a:p>
          <a:p/>
          <a:p>
            <a:r>
              <a:t>WATCH OUT</a:t>
            </a:r>
          </a:p>
          <a:p>
            <a:r>
              <a:t>  !  Two commercial objections answered before they are asked: 'our clients aren't digitised' and 'we can't send data to a third party'.</a:t>
            </a:r>
          </a:p>
          <a:p/>
          <a:p>
            <a:r>
              <a:t>IF ASKED</a:t>
            </a:r>
          </a:p>
          <a:p>
            <a:r>
              <a:t>  Q  What does OCR cost per page?</a:t>
            </a:r>
          </a:p>
          <a:p>
            <a:r>
              <a:t>  A  Metered separately under its own feature — roughly a thousand tokens for a typical page.</a:t>
            </a:r>
          </a:p>
          <a:p/>
          <a:p>
            <a:r>
              <a:t>NEXT  →  13 —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16:50   ·   1:30  ══</a:t>
            </a:r>
          </a:p>
          <a:p/>
          <a:p>
            <a:r>
              <a:t>SAY</a:t>
            </a:r>
          </a:p>
          <a:p>
            <a:r>
              <a:t>  •  I generated documents across six types.</a:t>
            </a:r>
          </a:p>
          <a:p>
            <a:r>
              <a:t>  •  About one in six was built to be REFUSED — a review with no rating, a redundancy notice, a letter from someone who does not work here.</a:t>
            </a:r>
          </a:p>
          <a:p>
            <a:r>
              <a:t>  •  A corpus of happy paths proves nothing about whether a parser invents data when a document is deficient.</a:t>
            </a:r>
          </a:p>
          <a:p>
            <a:r>
              <a:t>  •  All seventeen refusals behaved correctly, and with specific reasons rather than a generic failure.</a:t>
            </a:r>
          </a:p>
          <a:p/>
          <a:p>
            <a:r>
              <a:t>THE ONE THING</a:t>
            </a:r>
          </a:p>
          <a:p>
            <a:r>
              <a:t>  ►  Say 'designed to fail' out loud. Testing the refusals is what distinguishes engineering from a demo.</a:t>
            </a:r>
          </a:p>
          <a:p/>
          <a:p>
            <a:r>
              <a:t>POINT AT</a:t>
            </a:r>
          </a:p>
          <a:p>
            <a:r>
              <a:t>  ·  17 / 17 first, then the other three</a:t>
            </a:r>
          </a:p>
          <a:p/>
          <a:p>
            <a:r>
              <a:t>IF ASKED</a:t>
            </a:r>
          </a:p>
          <a:p>
            <a:r>
              <a:t>  Q  Why generated documents rather than real ones?</a:t>
            </a:r>
          </a:p>
          <a:p>
            <a:r>
              <a:t>  A  Real HR documents are personal data. It is a genuine limitation and it is on slide 16.</a:t>
            </a:r>
          </a:p>
          <a:p/>
          <a:p>
            <a:r>
              <a:t>NEXT  →  14 — the second corpus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18:20   ·   1:20  ══</a:t>
            </a:r>
          </a:p>
          <a:p/>
          <a:p>
            <a:r>
              <a:t>SAY</a:t>
            </a:r>
          </a:p>
          <a:p>
            <a:r>
              <a:t>  •  Those documents all tested CONTENT.</a:t>
            </a:r>
          </a:p>
          <a:p>
            <a:r>
              <a:t>  •  So I built a second corpus that tests the CONTAINER — delimiters, encodings, locales, scales, page layout.</a:t>
            </a:r>
          </a:p>
          <a:p>
            <a:r>
              <a:t>  •  It found this before a single file was uploaded.</a:t>
            </a:r>
          </a:p>
          <a:p>
            <a:r>
              <a:t>  •  The parser strips every comma as a thousands separator. So a French salary is read a hundred times too large.</a:t>
            </a:r>
          </a:p>
          <a:p>
            <a:r>
              <a:t>  •  Worse than a refusal — the wrong number reaches a reviewer looking completely plausible.</a:t>
            </a:r>
          </a:p>
          <a:p/>
          <a:p>
            <a:r>
              <a:t>THE ONE THING</a:t>
            </a:r>
          </a:p>
          <a:p>
            <a:r>
              <a:t>  ►  Every one of my first 106 documents was UTF-8, comma-delimited and in English, because that is what you write when you are inventing plausible documents.</a:t>
            </a:r>
          </a:p>
          <a:p/>
          <a:p>
            <a:r>
              <a:t>POINT AT</a:t>
            </a:r>
          </a:p>
          <a:p>
            <a:r>
              <a:t>  ·  The two rows, then the line under them</a:t>
            </a:r>
          </a:p>
          <a:p/>
          <a:p>
            <a:r>
              <a:t>WATCH OUT</a:t>
            </a:r>
          </a:p>
          <a:p>
            <a:r>
              <a:t>  !  Say plainly that it is still open. For an HR vendor with French-locale clients this is commercial, not just technical.</a:t>
            </a:r>
          </a:p>
          <a:p/>
          <a:p>
            <a:r>
              <a:t>NEXT  →  15 — the gap closed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19:40   ·   1:20  ══</a:t>
            </a:r>
          </a:p>
          <a:p/>
          <a:p>
            <a:r>
              <a:t>SAY</a:t>
            </a:r>
          </a:p>
          <a:p>
            <a:r>
              <a:t>  •  Twelve employees now have two-period histories, with real deltas instead of a hard-coded zero.</a:t>
            </a:r>
          </a:p>
          <a:p>
            <a:r>
              <a:t>  •  The promotion gate records document-sourced examples separately, so a change in AUC can be attributed to a source.</a:t>
            </a:r>
          </a:p>
          <a:p>
            <a:r>
              <a:t>  •  And the fixed synthetic evaluation cohort never sees ingested data — so documents can improve the model or do nothing, but cannot quietly degrade production.</a:t>
            </a:r>
          </a:p>
          <a:p/>
          <a:p>
            <a:r>
              <a:t>THE ONE THING</a:t>
            </a:r>
          </a:p>
          <a:p>
            <a:r>
              <a:t>  ►  Call back to slide 5 explicitly: 'those three constants'. Closing a loop the audience remembers opening is worth more than a new fact.</a:t>
            </a:r>
          </a:p>
          <a:p/>
          <a:p>
            <a:r>
              <a:t>POINT AT</a:t>
            </a:r>
          </a:p>
          <a:p>
            <a:r>
              <a:t>  ·  The last row — 0 → 12</a:t>
            </a:r>
          </a:p>
          <a:p/>
          <a:p>
            <a:r>
              <a:t>NEXT  →  16 — what doesn't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21:00   ·   1:00  ══</a:t>
            </a:r>
          </a:p>
          <a:p/>
          <a:p>
            <a:r>
              <a:t>SAY</a:t>
            </a:r>
          </a:p>
          <a:p>
            <a:r>
              <a:t>  •  Three things I would not claim.</a:t>
            </a:r>
          </a:p>
          <a:p>
            <a:r>
              <a:t>  •  The sentiment analysis is a small hand-built lexicon and it fails on real prose. A letter saying the author was tired in a way a holiday does not fix scores zero. At twenty-four documents, that is most of them.</a:t>
            </a:r>
          </a:p>
          <a:p>
            <a:r>
              <a:t>  •  The decimal comma is still open — it has a fixture, not a fix.</a:t>
            </a:r>
          </a:p>
          <a:p>
            <a:r>
              <a:t>  •  And I have not shown an improvement in predicting real turnover.</a:t>
            </a:r>
          </a:p>
          <a:p/>
          <a:p>
            <a:r>
              <a:t>THE ONE THING</a:t>
            </a:r>
          </a:p>
          <a:p>
            <a:r>
              <a:t>  ►  That last one needs a real organisation's documents and a real outcome window. Neither was available.</a:t>
            </a:r>
          </a:p>
          <a:p/>
          <a:p>
            <a:r>
              <a:t>WATCH OUT</a:t>
            </a:r>
          </a:p>
          <a:p>
            <a:r>
              <a:t>  !  DO NOT SKIP THIS SLIDE to save time. Naming your own limits before a jury does is the cheapest credibility you will buy all talk — and it pre-empts the obvious hostile question.</a:t>
            </a:r>
          </a:p>
          <a:p/>
          <a:p>
            <a:r>
              <a:t>IF ASKED</a:t>
            </a:r>
          </a:p>
          <a:p>
            <a:r>
              <a:t>  Q  So does it actually work?</a:t>
            </a:r>
          </a:p>
          <a:p>
            <a:r>
              <a:t>  A  It demonstrably ingests documents safely. Whether it improves prediction is unmeasured, and I am not claiming it.</a:t>
            </a:r>
          </a:p>
          <a:p/>
          <a:p>
            <a:r>
              <a:t>NEXT  →  17 — the commercial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22:00   ·   1:20  ══</a:t>
            </a:r>
          </a:p>
          <a:p/>
          <a:p>
            <a:r>
              <a:t>SAY</a:t>
            </a:r>
          </a:p>
          <a:p>
            <a:r>
              <a:t>  •  The pitch in one line: this turns an archive a client is already paying to store into something their analytics can use.</a:t>
            </a:r>
          </a:p>
          <a:p>
            <a:r>
              <a:t>  •  With an audit trail that survives a data-protection review.</a:t>
            </a:r>
          </a:p>
          <a:p>
            <a:r>
              <a:t>  •  And because the cost per document is measured rather than estimated, a client can be quoted before a pilot rather than after it.</a:t>
            </a:r>
          </a:p>
          <a:p/>
          <a:p>
            <a:r>
              <a:t>THE ONE THING</a:t>
            </a:r>
          </a:p>
          <a:p>
            <a:r>
              <a:t>  ►  Four claims, no more. Each answers a question a buyer actually asks: what do I get, can I defend it, where does my data go, what does it cost.</a:t>
            </a:r>
          </a:p>
          <a:p/>
          <a:p>
            <a:r>
              <a:t>NEXT  →  18 —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══  23:20   ·   0:40  ══</a:t>
            </a:r>
          </a:p>
          <a:p/>
          <a:p>
            <a:r>
              <a:t>SAY</a:t>
            </a:r>
          </a:p>
          <a:p>
            <a:r>
              <a:t>  •  The highest-return next step is the sentiment model, because eighty-three per cent of what we ingest currently produces no signal.</a:t>
            </a:r>
          </a:p>
          <a:p>
            <a:r>
              <a:t>  •  And if you take one idea away —</a:t>
            </a:r>
          </a:p>
          <a:p>
            <a:r>
              <a:t>  •  Every safety property in this pipeline is structural. A letter cannot leak a feature because the schema has no feature fields. A batch of letters cannot become a training set because the base rate is checked.</a:t>
            </a:r>
          </a:p>
          <a:p>
            <a:r>
              <a:t>  •  Each could have been a rule in a document. And each would eventually have been forgotten.</a:t>
            </a:r>
          </a:p>
          <a:p/>
          <a:p>
            <a:r>
              <a:t>THE ONE THING</a:t>
            </a:r>
          </a:p>
          <a:p>
            <a:r>
              <a:t>  ►  Stop talking after that sentence. Leave the line on screen and let the silence be the invitation — do not add 'any questions?'</a:t>
            </a:r>
          </a:p>
          <a:p/>
          <a:p>
            <a:r>
              <a:t>NEXT  →  — questions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clip. Not part of the 24-minute run.</a:t>
            </a:r>
          </a:p>
          <a:p>
            <a:r>
              <a:t>  •  Use only if the room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screen. Not part of the 24-minute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•  Backup screen. Not part of the 24-minute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microsoft.com/office/2007/relationships/media" Target="../media/media1.mp4"/><Relationship Id="rId5" Type="http://schemas.openxmlformats.org/officeDocument/2006/relationships/video" Target="../media/media1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microsoft.com/office/2007/relationships/media" Target="../media/media2.mp4"/><Relationship Id="rId5" Type="http://schemas.openxmlformats.org/officeDocument/2006/relationships/video" Target="../media/media2.mp4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microsoft.com/office/2007/relationships/media" Target="../media/media3.mp4"/><Relationship Id="rId5" Type="http://schemas.openxmlformats.org/officeDocument/2006/relationships/video" Target="../media/media3.mp4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microsoft.com/office/2007/relationships/media" Target="../media/media4.mp4"/><Relationship Id="rId5" Type="http://schemas.openxmlformats.org/officeDocument/2006/relationships/video" Target="../media/media4.mp4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microsoft.com/office/2007/relationships/media" Target="../media/media5.mp4"/><Relationship Id="rId5" Type="http://schemas.openxmlformats.org/officeDocument/2006/relationships/video" Target="../media/media5.mp4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microsoft.com/office/2007/relationships/media" Target="../media/media6.mp4"/><Relationship Id="rId5" Type="http://schemas.openxmlformats.org/officeDocument/2006/relationships/video" Target="../media/media6.mp4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microsoft.com/office/2007/relationships/media" Target="../media/media7.mp4"/><Relationship Id="rId5" Type="http://schemas.openxmlformats.org/officeDocument/2006/relationships/video" Target="../media/media7.mp4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microsoft.com/office/2007/relationships/media" Target="../media/media8.mp4"/><Relationship Id="rId5" Type="http://schemas.openxmlformats.org/officeDocument/2006/relationships/video" Target="../media/media8.mp4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microsoft.com/office/2007/relationships/media" Target="../media/media9.mp4"/><Relationship Id="rId5" Type="http://schemas.openxmlformats.org/officeDocument/2006/relationships/video" Target="../media/media9.mp4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microsoft.com/office/2007/relationships/media" Target="../media/media10.mp4"/><Relationship Id="rId5" Type="http://schemas.openxmlformats.org/officeDocument/2006/relationships/video" Target="../media/media10.mp4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965960"/>
            <a:ext cx="1371600" cy="63500"/>
          </a:xfrm>
          <a:prstGeom prst="rect">
            <a:avLst/>
          </a:prstGeom>
          <a:solidFill>
            <a:srgbClr val="A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A79BFF"/>
                </a:solidFill>
                <a:latin typeface="Segoe UI"/>
              </a:defRPr>
            </a:pPr>
            <a:r>
              <a:t>END-OF-STUDIES INTERNSHIP  ·  SOPRA HR SOFTWARE × ESPRIT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6000" b="1">
                <a:solidFill>
                  <a:srgbClr val="F2F5F4"/>
                </a:solidFill>
                <a:latin typeface="Segoe UI"/>
              </a:defRPr>
            </a:pPr>
            <a:r>
              <a:t>Reading the Paperwork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98A3A1"/>
                </a:solidFill>
                <a:latin typeface="Segoe UI"/>
              </a:defRPr>
            </a:pPr>
            <a:r>
              <a:t>HR documents → machine-learning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2F5F4"/>
                </a:solidFill>
                <a:latin typeface="Segoe UI"/>
              </a:defRPr>
            </a:pPr>
            <a:r>
              <a:t>[Your name]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6D7877"/>
                </a:solidFill>
                <a:latin typeface="Segoe UI"/>
              </a:defRPr>
            </a:pPr>
            <a:r>
              <a:t>Supervisors: [company] · [academic]   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 · THE PROBLEM WORTH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What one resignation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0:20  ·  1:00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600" b="1">
                <a:solidFill>
                  <a:srgbClr val="A79BFF"/>
                </a:solidFill>
                <a:latin typeface="Segoe UI"/>
              </a:defRPr>
            </a:pPr>
            <a:r>
              <a:t>[ X ]×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40"/>
            <a:ext cx="84366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600" b="0">
                <a:solidFill>
                  <a:srgbClr val="F2F5F4"/>
                </a:solidFill>
                <a:latin typeface="Segoe UI"/>
              </a:defRPr>
            </a:pPr>
            <a:r>
              <a:t>monthly salary, to replace one person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E7529"/>
                </a:solidFill>
                <a:latin typeface="Segoe UI"/>
              </a:defRPr>
            </a:pPr>
            <a:r>
              <a:t>↑  replace with a sourced figure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The data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1:20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49119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0"/>
              </a:spcAft>
              <a:defRPr sz="2500" b="0">
                <a:solidFill>
                  <a:srgbClr val="F2F5F4"/>
                </a:solidFill>
                <a:latin typeface="Segoe UI"/>
              </a:defRPr>
            </a:pPr>
            <a:r>
              <a:t>Thousands of performance reviews</a:t>
            </a:r>
          </a:p>
          <a:p>
            <a:pPr algn="l">
              <a:spcAft>
                <a:spcPts val="2000"/>
              </a:spcAft>
              <a:defRPr sz="2500" b="0">
                <a:solidFill>
                  <a:srgbClr val="F2F5F4"/>
                </a:solidFill>
                <a:latin typeface="Segoe UI"/>
              </a:defRPr>
            </a:pPr>
            <a:r>
              <a:t>Every resignation letter ever received</a:t>
            </a:r>
          </a:p>
          <a:p>
            <a:pPr algn="l">
              <a:spcAft>
                <a:spcPts val="2000"/>
              </a:spcAft>
              <a:defRPr sz="2500" b="0">
                <a:solidFill>
                  <a:srgbClr val="F2F5F4"/>
                </a:solidFill>
                <a:latin typeface="Segoe UI"/>
              </a:defRPr>
            </a:pPr>
            <a:r>
              <a:t>Offer letters, CVs — and a lot of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89639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A79BFF"/>
                </a:solidFill>
                <a:latin typeface="Segoe UI"/>
              </a:defRPr>
            </a:pPr>
            <a:r>
              <a:t>It just isn't readable.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What already existed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2:40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5939" y="1956816"/>
            <a:ext cx="6659817" cy="4224528"/>
          </a:xfrm>
          <a:prstGeom prst="roundRect">
            <a:avLst/>
          </a:prstGeom>
          <a:solidFill>
            <a:srgbClr val="161C1B"/>
          </a:solidFill>
          <a:ln w="1270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t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03" y="2011680"/>
            <a:ext cx="65500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Three features were 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4:00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486400" cy="192024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2300" b="1">
                <a:solidFill>
                  <a:srgbClr val="F2F5F4"/>
                </a:solidFill>
                <a:latin typeface="Segoe UI"/>
              </a:defRPr>
            </a:pPr>
            <a:r>
              <a:t>rating_last   =  3.0</a:t>
            </a:r>
          </a:p>
          <a:p>
            <a:pPr algn="l">
              <a:spcAft>
                <a:spcPts val="1000"/>
              </a:spcAft>
              <a:defRPr sz="2300" b="1">
                <a:solidFill>
                  <a:srgbClr val="F2F5F4"/>
                </a:solidFill>
                <a:latin typeface="Segoe UI"/>
              </a:defRPr>
            </a:pPr>
            <a:r>
              <a:t>rating_prev   =  3.0</a:t>
            </a:r>
          </a:p>
          <a:p>
            <a:pPr algn="l">
              <a:spcAft>
                <a:spcPts val="0"/>
              </a:spcAft>
              <a:defRPr sz="2300" b="1">
                <a:solidFill>
                  <a:srgbClr val="F2F5F4"/>
                </a:solidFill>
                <a:latin typeface="Segoe UI"/>
              </a:defRPr>
            </a:pPr>
            <a:r>
              <a:t>rating_delta  =  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60604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5600" b="1">
                <a:solidFill>
                  <a:srgbClr val="DE7529"/>
                </a:solidFill>
                <a:latin typeface="Segoe UI"/>
              </a:defRPr>
            </a:pPr>
            <a:r>
              <a:t>3 of 18</a:t>
            </a:r>
          </a:p>
          <a:p>
            <a:pPr algn="l">
              <a:spcAft>
                <a:spcPts val="0"/>
              </a:spcAft>
              <a:defRPr sz="2000" b="0">
                <a:solidFill>
                  <a:srgbClr val="F2F5F4"/>
                </a:solidFill>
                <a:latin typeface="Segoe UI"/>
              </a:defRPr>
            </a:pPr>
            <a:r>
              <a:t>carried no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 · 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One pipeline, one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5:20  ·  1:40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1920240" cy="1463040"/>
          </a:xfrm>
          <a:prstGeom prst="roundRect">
            <a:avLst/>
          </a:prstGeom>
          <a:solidFill>
            <a:srgbClr val="161C1B"/>
          </a:solidFill>
          <a:ln w="1905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2F5F4"/>
                </a:solidFill>
                <a:latin typeface="Segoe UI"/>
              </a:defRPr>
            </a:pPr>
            <a:r>
              <a:t>Document</a:t>
            </a:r>
          </a:p>
          <a:p>
            <a:pPr algn="ctr">
              <a:defRPr sz="1150" b="0">
                <a:solidFill>
                  <a:srgbClr val="F2F5F4"/>
                </a:solidFill>
                <a:latin typeface="Segoe UI"/>
              </a:defRPr>
            </a:pPr>
            <a:r>
              <a:t>CSV · PDF · text · PHOTO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2834640"/>
            <a:ext cx="1920240" cy="1463040"/>
          </a:xfrm>
          <a:prstGeom prst="roundRect">
            <a:avLst/>
          </a:prstGeom>
          <a:solidFill>
            <a:srgbClr val="161C1B"/>
          </a:solidFill>
          <a:ln w="1905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2F5F4"/>
                </a:solidFill>
                <a:latin typeface="Segoe UI"/>
              </a:defRPr>
            </a:pPr>
            <a:r>
              <a:t>Parse</a:t>
            </a:r>
          </a:p>
          <a:p>
            <a:pPr algn="ctr">
              <a:defRPr sz="1150" b="0">
                <a:solidFill>
                  <a:srgbClr val="F2F5F4"/>
                </a:solidFill>
                <a:latin typeface="Segoe UI"/>
              </a:defRPr>
            </a:pPr>
            <a:r>
              <a:t>rules · LLM ·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82896" y="2834640"/>
            <a:ext cx="2240280" cy="1463040"/>
          </a:xfrm>
          <a:prstGeom prst="roundRect">
            <a:avLst/>
          </a:prstGeom>
          <a:solidFill>
            <a:srgbClr val="A79BFF"/>
          </a:solidFill>
          <a:ln w="1905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B0F0E"/>
                </a:solidFill>
                <a:latin typeface="Segoe UI"/>
              </a:defRPr>
            </a:pPr>
            <a:r>
              <a:t>STAGING</a:t>
            </a:r>
          </a:p>
          <a:p>
            <a:pPr algn="ctr">
              <a:defRPr sz="1150" b="0">
                <a:solidFill>
                  <a:srgbClr val="0B0F0E"/>
                </a:solidFill>
                <a:latin typeface="Segoe UI"/>
              </a:defRPr>
            </a:pPr>
            <a:r>
              <a:t>nothing proceeds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2834640"/>
            <a:ext cx="1920240" cy="1463040"/>
          </a:xfrm>
          <a:prstGeom prst="roundRect">
            <a:avLst/>
          </a:prstGeom>
          <a:solidFill>
            <a:srgbClr val="161C1B"/>
          </a:solidFill>
          <a:ln w="1905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2F5F4"/>
                </a:solidFill>
                <a:latin typeface="Segoe UI"/>
              </a:defRPr>
            </a:pPr>
            <a:r>
              <a:t>HUMAN</a:t>
            </a:r>
          </a:p>
          <a:p>
            <a:pPr algn="ctr">
              <a:defRPr sz="1150" b="0">
                <a:solidFill>
                  <a:srgbClr val="F2F5F4"/>
                </a:solidFill>
                <a:latin typeface="Segoe UI"/>
              </a:defRPr>
            </a:pPr>
            <a:r>
              <a:t>approves per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62872" y="2834640"/>
            <a:ext cx="1965960" cy="1463040"/>
          </a:xfrm>
          <a:prstGeom prst="roundRect">
            <a:avLst/>
          </a:prstGeom>
          <a:solidFill>
            <a:srgbClr val="161C1B"/>
          </a:solidFill>
          <a:ln w="1905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2F5F4"/>
                </a:solidFill>
                <a:latin typeface="Segoe UI"/>
              </a:defRPr>
            </a:pPr>
            <a:r>
              <a:t>Employees · reviews</a:t>
            </a:r>
          </a:p>
          <a:p>
            <a:pPr algn="ctr">
              <a:defRPr sz="1150" b="0">
                <a:solidFill>
                  <a:srgbClr val="F2F5F4"/>
                </a:solidFill>
                <a:latin typeface="Segoe UI"/>
              </a:defRPr>
            </a:pPr>
            <a:r>
              <a:t>exit notes · cohort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457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A79BFF"/>
                </a:solidFill>
                <a:latin typeface="Segoe UI"/>
              </a:defRPr>
            </a:pPr>
            <a:r>
              <a:t>No path from extraction to a personnel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A photograph of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7:00  ·  2:30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Uploaded → marked OCR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Transcribed once, on upload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Then the identical route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Staged at 0.7×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photographed-paper-o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8" name="03-photographed-paper-ocr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III · WHY IT CAN BE 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Nothing is written without a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9:30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5939" y="1956816"/>
            <a:ext cx="6659817" cy="4224528"/>
          </a:xfrm>
          <a:prstGeom prst="roundRect">
            <a:avLst/>
          </a:prstGeom>
          <a:solidFill>
            <a:srgbClr val="161C1B"/>
          </a:solidFill>
          <a:ln w="1270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03" y="2011680"/>
            <a:ext cx="65500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Make the wrong thing unrepresentable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10:50  ·  2:00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669280" cy="265176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A79BFF"/>
                </a:solidFill>
                <a:latin typeface="Segoe UI"/>
              </a:defRPr>
            </a:pPr>
            <a:r>
              <a:t>ResignationLetterExtract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employee_email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effective_date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is_voluntary</a:t>
            </a:r>
          </a:p>
          <a:p>
            <a:pPr algn="l">
              <a:spcAft>
                <a:spcPts val="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note_text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651760"/>
            <a:ext cx="4389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2700" b="1">
                <a:solidFill>
                  <a:srgbClr val="F2F5F4"/>
                </a:solidFill>
                <a:latin typeface="Segoe UI"/>
              </a:defRPr>
            </a:pPr>
            <a:r>
              <a:t>No workload field.</a:t>
            </a:r>
          </a:p>
          <a:p>
            <a:pPr algn="l">
              <a:spcAft>
                <a:spcPts val="1800"/>
              </a:spcAft>
              <a:defRPr sz="2700" b="1">
                <a:solidFill>
                  <a:srgbClr val="F2F5F4"/>
                </a:solidFill>
                <a:latin typeface="Segoe UI"/>
              </a:defRPr>
            </a:pPr>
            <a:r>
              <a:t>No morale field.</a:t>
            </a:r>
          </a:p>
          <a:p>
            <a:pPr algn="l">
              <a:spcAft>
                <a:spcPts val="0"/>
              </a:spcAft>
              <a:defRPr sz="2400" b="1">
                <a:solidFill>
                  <a:srgbClr val="DE7529"/>
                </a:solidFill>
                <a:latin typeface="Segoe UI"/>
              </a:defRPr>
            </a:pPr>
            <a:r>
              <a:t>No feature fields at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You only get letters from leavers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12:50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4892040" cy="2651760"/>
          </a:xfrm>
          <a:prstGeom prst="roundRect">
            <a:avLst/>
          </a:prstGeom>
          <a:solidFill>
            <a:srgbClr val="161C1B"/>
          </a:solidFill>
          <a:ln w="20320">
            <a:solidFill>
              <a:srgbClr val="DE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788920"/>
            <a:ext cx="4114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2F5F4"/>
                </a:solidFill>
                <a:latin typeface="Segoe UI"/>
              </a:defRPr>
            </a:pPr>
            <a:r>
              <a:t>Letters only</a:t>
            </a:r>
          </a:p>
          <a:p>
            <a:pPr algn="l">
              <a:spcAft>
                <a:spcPts val="1600"/>
              </a:spcAft>
              <a:defRPr sz="1500" b="0">
                <a:solidFill>
                  <a:srgbClr val="98A3A1"/>
                </a:solidFill>
                <a:latin typeface="Segoe UI"/>
              </a:defRPr>
            </a:pPr>
            <a:r>
              <a:t>24 positives · 0 negatives</a:t>
            </a:r>
          </a:p>
          <a:p>
            <a:pPr algn="l">
              <a:spcAft>
                <a:spcPts val="400"/>
              </a:spcAft>
              <a:defRPr sz="6000" b="1">
                <a:solidFill>
                  <a:srgbClr val="DE7529"/>
                </a:solidFill>
                <a:latin typeface="Segoe UI"/>
              </a:defRPr>
            </a:pPr>
            <a:r>
              <a:t>100%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6D7877"/>
                </a:solidFill>
                <a:latin typeface="Segoe UI"/>
              </a:defRPr>
            </a:pPr>
            <a:r>
              <a:t>base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560320"/>
            <a:ext cx="4892040" cy="2651760"/>
          </a:xfrm>
          <a:prstGeom prst="roundRect">
            <a:avLst/>
          </a:prstGeom>
          <a:solidFill>
            <a:srgbClr val="161C1B"/>
          </a:solidFill>
          <a:ln w="2032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788920"/>
            <a:ext cx="4114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2F5F4"/>
                </a:solidFill>
                <a:latin typeface="Segoe UI"/>
              </a:defRPr>
            </a:pPr>
            <a:r>
              <a:t>Letters + roster</a:t>
            </a:r>
          </a:p>
          <a:p>
            <a:pPr algn="l">
              <a:spcAft>
                <a:spcPts val="1600"/>
              </a:spcAft>
              <a:defRPr sz="1500" b="0">
                <a:solidFill>
                  <a:srgbClr val="98A3A1"/>
                </a:solidFill>
                <a:latin typeface="Segoe UI"/>
              </a:defRPr>
            </a:pPr>
            <a:r>
              <a:t>24 positives · 377 negatives</a:t>
            </a:r>
          </a:p>
          <a:p>
            <a:pPr algn="l">
              <a:spcAft>
                <a:spcPts val="400"/>
              </a:spcAft>
              <a:defRPr sz="6000" b="1">
                <a:solidFill>
                  <a:srgbClr val="A79BFF"/>
                </a:solidFill>
                <a:latin typeface="Segoe UI"/>
              </a:defRPr>
            </a:pPr>
            <a:r>
              <a:t>5.99%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6D7877"/>
                </a:solidFill>
                <a:latin typeface="Segoe UI"/>
              </a:defRPr>
            </a:pPr>
            <a:r>
              <a:t>base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When the model made something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14:10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49119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98A3A1"/>
                </a:solidFill>
                <a:latin typeface="Segoe UI"/>
              </a:defRPr>
            </a:pPr>
            <a:r>
              <a:t>The prompt said: if the department is missing, return an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9509760" cy="1234440"/>
          </a:xfrm>
          <a:prstGeom prst="roundRect">
            <a:avLst/>
          </a:prstGeom>
          <a:solidFill>
            <a:srgbClr val="161C1B"/>
          </a:solidFill>
          <a:ln w="20320">
            <a:solidFill>
              <a:srgbClr val="DE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8595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DE7529"/>
                </a:solidFill>
                <a:latin typeface="Segoe UI"/>
              </a:defRPr>
            </a:pPr>
            <a:r>
              <a:t>department_name:  "no department stated"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9491197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2600" b="1">
                <a:solidFill>
                  <a:srgbClr val="F2F5F4"/>
                </a:solidFill>
                <a:latin typeface="Segoe UI"/>
              </a:defRPr>
            </a:pPr>
            <a:r>
              <a:t>A valid string. It passed validation.</a:t>
            </a:r>
          </a:p>
          <a:p>
            <a:pPr algn="l">
              <a:spcAft>
                <a:spcPts val="0"/>
              </a:spcAft>
              <a:defRPr sz="2000" b="0">
                <a:solidFill>
                  <a:srgbClr val="A79BFF"/>
                </a:solidFill>
                <a:latin typeface="Segoe UI"/>
              </a:defRPr>
            </a:pPr>
            <a:r>
              <a:t>Structure catches a class. Wording catches a phrasing.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Paper, and not being locked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15:30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4892040" cy="274320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160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Paper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Photo → transcription → the same pipeline.</a:t>
            </a:r>
            <a:br/>
            <a:br/>
            <a:r>
              <a:t>Staged at 0.7× confidence.</a:t>
            </a:r>
            <a:br/>
            <a:br/>
            <a:r>
              <a:t>A scanned PDF takes the same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468880"/>
            <a:ext cx="4892040" cy="274320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743200"/>
            <a:ext cx="4160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Portability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Groq ⇄ AWS Bedrock.</a:t>
            </a:r>
            <a:br/>
            <a:br/>
            <a:r>
              <a:t>One environment variable.</a:t>
            </a:r>
            <a:br/>
            <a:br/>
            <a:r>
              <a:t>Runs inside the client's own account.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IV · WHAT IT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Tested against documents built to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16:50  ·  1:30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606040" cy="201168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2103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600" b="1">
                <a:solidFill>
                  <a:srgbClr val="A79BFF"/>
                </a:solidFill>
                <a:latin typeface="Segoe UI"/>
              </a:defRPr>
            </a:pPr>
            <a:r>
              <a:t>17/17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refusals 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743200"/>
            <a:ext cx="2606040" cy="201168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199" y="3063240"/>
            <a:ext cx="2103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600" b="1">
                <a:solidFill>
                  <a:srgbClr val="A79BFF"/>
                </a:solidFill>
                <a:latin typeface="Segoe UI"/>
              </a:defRPr>
            </a:pPr>
            <a:r>
              <a:t>143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2606040" cy="201168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063240"/>
            <a:ext cx="2103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600" b="1">
                <a:solidFill>
                  <a:srgbClr val="A79BFF"/>
                </a:solidFill>
                <a:latin typeface="Segoe UI"/>
              </a:defRPr>
            </a:pPr>
            <a:r>
              <a:t>350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2743200"/>
            <a:ext cx="2606040" cy="2011680"/>
          </a:xfrm>
          <a:prstGeom prst="roundRect">
            <a:avLst/>
          </a:prstGeom>
          <a:solidFill>
            <a:srgbClr val="161C1B"/>
          </a:solidFill>
          <a:ln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39" y="3063240"/>
            <a:ext cx="21031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600" b="1">
                <a:solidFill>
                  <a:srgbClr val="A79BFF"/>
                </a:solidFill>
                <a:latin typeface="Segoe UI"/>
              </a:defRPr>
            </a:pPr>
            <a:r>
              <a:t>6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formats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The bug the first corpus could not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18:20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9509760" cy="1737360"/>
          </a:xfrm>
          <a:prstGeom prst="roundRect">
            <a:avLst/>
          </a:prstGeom>
          <a:solidFill>
            <a:srgbClr val="161C1B"/>
          </a:solidFill>
          <a:ln w="20320">
            <a:solidFill>
              <a:srgbClr val="DE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51760"/>
            <a:ext cx="8412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2800" b="1">
                <a:solidFill>
                  <a:srgbClr val="F2F5F4"/>
                </a:solidFill>
                <a:latin typeface="Segoe UI"/>
              </a:defRPr>
            </a:pPr>
            <a:r>
              <a:t>1234,56        →        123456.0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F2F5F4"/>
                </a:solidFill>
                <a:latin typeface="Segoe UI"/>
              </a:defRPr>
            </a:pPr>
            <a:r>
              <a:t>85.000,50      →        85.0005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9702113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2800" b="1">
                <a:solidFill>
                  <a:srgbClr val="DE7529"/>
                </a:solidFill>
                <a:latin typeface="Segoe UI"/>
              </a:defRPr>
            </a:pPr>
            <a:r>
              <a:t>A decimal comma multiplies salary by 100.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DE7529"/>
                </a:solidFill>
                <a:latin typeface="Segoe UI"/>
              </a:defRPr>
            </a:pPr>
            <a:r>
              <a:t>Silently.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The gap from slide 5,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19:40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100" b="0">
                <a:solidFill>
                  <a:srgbClr val="F2F5F4"/>
                </a:solidFill>
                <a:latin typeface="Segoe UI"/>
              </a:defRPr>
            </a:pPr>
            <a:r>
              <a:t>Informative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517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15 of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6517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65176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1">
                <a:solidFill>
                  <a:srgbClr val="A79BFF"/>
                </a:solidFill>
                <a:latin typeface="Segoe UI"/>
              </a:defRPr>
            </a:pPr>
            <a:r>
              <a:t>18 of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54680"/>
            <a:ext cx="10545775" cy="9525"/>
          </a:xfrm>
          <a:prstGeom prst="rect">
            <a:avLst/>
          </a:prstGeom>
          <a:solidFill>
            <a:srgbClr val="2A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100" b="0">
                <a:solidFill>
                  <a:srgbClr val="F2F5F4"/>
                </a:solidFill>
                <a:latin typeface="Segoe UI"/>
              </a:defRPr>
            </a:pPr>
            <a:r>
              <a:t>Reviews in the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4290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429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4290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1">
                <a:solidFill>
                  <a:srgbClr val="A79BFF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10545775" cy="9525"/>
          </a:xfrm>
          <a:prstGeom prst="rect">
            <a:avLst/>
          </a:prstGeom>
          <a:solidFill>
            <a:srgbClr val="2A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100" b="0">
                <a:solidFill>
                  <a:srgbClr val="F2F5F4"/>
                </a:solidFill>
                <a:latin typeface="Segoe UI"/>
              </a:defRPr>
            </a:pPr>
            <a:r>
              <a:t>Employees with a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0624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2062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206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1">
                <a:solidFill>
                  <a:srgbClr val="A79BFF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709159"/>
            <a:ext cx="10545775" cy="9525"/>
          </a:xfrm>
          <a:prstGeom prst="rect">
            <a:avLst/>
          </a:prstGeom>
          <a:solidFill>
            <a:srgbClr val="2A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79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100" b="0">
                <a:solidFill>
                  <a:srgbClr val="F2F5F4"/>
                </a:solidFill>
                <a:latin typeface="Segoe UI"/>
              </a:defRPr>
            </a:pPr>
            <a:r>
              <a:t>…with two periods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983479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98347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2100" b="0">
                <a:solidFill>
                  <a:srgbClr val="6D787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983479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2100" b="1">
                <a:solidFill>
                  <a:srgbClr val="A79B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486399"/>
            <a:ext cx="10545775" cy="9525"/>
          </a:xfrm>
          <a:prstGeom prst="rect">
            <a:avLst/>
          </a:prstGeom>
          <a:solidFill>
            <a:srgbClr val="2A3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What doesn't work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21:00  ·  1:00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49119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  <a:defRPr sz="2300" b="0">
                <a:solidFill>
                  <a:srgbClr val="F2F5F4"/>
                </a:solidFill>
                <a:latin typeface="Segoe UI"/>
              </a:defRPr>
            </a:pPr>
            <a:r>
              <a:t>83% of exit notes yield no theme</a:t>
            </a:r>
          </a:p>
          <a:p>
            <a:pPr algn="l">
              <a:spcAft>
                <a:spcPts val="1800"/>
              </a:spcAft>
              <a:defRPr sz="2300" b="0">
                <a:solidFill>
                  <a:srgbClr val="F2F5F4"/>
                </a:solidFill>
                <a:latin typeface="Segoe UI"/>
              </a:defRPr>
            </a:pPr>
            <a:r>
              <a:t>A decimal comma still corrupts salaries</a:t>
            </a:r>
          </a:p>
          <a:p>
            <a:pPr algn="l">
              <a:spcAft>
                <a:spcPts val="1800"/>
              </a:spcAft>
              <a:defRPr sz="2300" b="0">
                <a:solidFill>
                  <a:srgbClr val="F2F5F4"/>
                </a:solidFill>
                <a:latin typeface="Segoe UI"/>
              </a:defRPr>
            </a:pPr>
            <a:r>
              <a:t>Duplicate emails can match the wrong person</a:t>
            </a:r>
          </a:p>
          <a:p>
            <a:pPr algn="l">
              <a:spcAft>
                <a:spcPts val="1800"/>
              </a:spcAft>
              <a:defRPr sz="2300" b="0">
                <a:solidFill>
                  <a:srgbClr val="F2F5F4"/>
                </a:solidFill>
                <a:latin typeface="Segoe UI"/>
              </a:defRPr>
            </a:pPr>
            <a:r>
              <a:t>Validated on generated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949119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DE7529"/>
                </a:solidFill>
                <a:latin typeface="Segoe UI"/>
              </a:defRPr>
            </a:pPr>
            <a:r>
              <a:t>No improvement in real turnover prediction is claimed.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V · 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Why a client would pay for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22:00  ·  1:20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5029200" cy="141732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Dormant asset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Archives they already 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560320"/>
            <a:ext cx="5029200" cy="141732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834640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Auditable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Every value traces to a sentence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79"/>
            <a:ext cx="5029200" cy="141732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71999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Their infrastructure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Runs in the client's own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297679"/>
            <a:ext cx="5029200" cy="1417320"/>
          </a:xfrm>
          <a:prstGeom prst="roundRect">
            <a:avLst/>
          </a:prstGeom>
          <a:solidFill>
            <a:srgbClr val="161C1B"/>
          </a:solidFill>
          <a:ln w="17780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571999"/>
            <a:ext cx="4297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A79BFF"/>
                </a:solidFill>
                <a:latin typeface="Segoe UI"/>
              </a:defRPr>
            </a:pPr>
            <a:r>
              <a:t>Known unit cost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98A3A1"/>
                </a:solidFill>
                <a:latin typeface="Segoe UI"/>
              </a:defRPr>
            </a:pPr>
            <a:r>
              <a:t>~460 tokens, ~5 seconds per document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ACT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Next,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88575" y="5669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6D7877"/>
                </a:solidFill>
                <a:latin typeface="Segoe UI"/>
              </a:defRPr>
            </a:pPr>
            <a:r>
              <a:t>23:20  ·  0:40</a:t>
            </a:r>
          </a:p>
          <a:p>
            <a:pPr algn="r">
              <a:spcAft>
                <a:spcPts val="0"/>
              </a:spcAft>
              <a:defRPr sz="1000" b="0">
                <a:solidFill>
                  <a:srgbClr val="6D7877"/>
                </a:solidFill>
                <a:latin typeface="Segoe UI"/>
              </a:defRPr>
            </a:pPr>
            <a:r>
              <a:t>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49119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98A3A1"/>
                </a:solidFill>
                <a:latin typeface="Segoe UI"/>
              </a:defRPr>
            </a:pPr>
            <a:r>
              <a:t>Next  —  the sentiment model  ·  the decimal comma  ·  a real archive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83280"/>
            <a:ext cx="2011680" cy="50800"/>
          </a:xfrm>
          <a:prstGeom prst="rect">
            <a:avLst/>
          </a:prstGeom>
          <a:solidFill>
            <a:srgbClr val="A7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9491197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2F5F4"/>
                </a:solidFill>
                <a:latin typeface="Segoe UI"/>
              </a:defRPr>
            </a:pPr>
            <a:r>
              <a:t>Make the wrong thing</a:t>
            </a:r>
          </a:p>
          <a:p>
            <a:pPr algn="l">
              <a:spcAft>
                <a:spcPts val="400"/>
              </a:spcAft>
              <a:defRPr sz="4400" b="1">
                <a:solidFill>
                  <a:srgbClr val="F2F5F4"/>
                </a:solidFill>
                <a:latin typeface="Segoe UI"/>
              </a:defRPr>
            </a:pPr>
            <a:r>
              <a:t>unrepresentable,</a:t>
            </a:r>
          </a:p>
          <a:p>
            <a:pPr algn="l">
              <a:spcAft>
                <a:spcPts val="0"/>
              </a:spcAft>
              <a:defRPr sz="4400" b="1">
                <a:solidFill>
                  <a:srgbClr val="A79BFF"/>
                </a:solidFill>
                <a:latin typeface="Segoe UI"/>
              </a:defRPr>
            </a:pPr>
            <a:r>
              <a:t>rather than detectable.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Roster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No model, no API key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Compared row by row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Only differences staged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An identical row proposes nothing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roster-csv-deterministic-par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1-roster-csv-deterministic-parsing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Resignation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Free prose, read by the model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Contributes a label and a date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Never a feature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Note text flows to exit-note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resignation-letter-llm-ex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2-resignation-letter-llm-extractio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Honest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A layoff is not a resignation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Refused, with the reason stored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Nothing was written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That is the success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honest-refusal-of-an-involuntary-ex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4-honest-refusal-of-an-involuntary-exit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The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142 documents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Filter to what needs you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List and inspector together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Every proposal carries its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review-queue-filter-and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5-review-queue-filter-and-evidence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Scenario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A template drops events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Time is drawn, not tabulated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Baseline against scenario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Measured in the targeted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scenario-simulator-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6-scenario-simulator-forecast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Diagnosis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Opens over the page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Top drivers and cohort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A recommendation you can apply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Dismissing costs nothing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diagnosis-report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7-diagnosis-report-modal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Retention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Who ranks highest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Each score traces to drivers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Never a number alone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retention-risk-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8-retention-risk-ranking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Model and promotion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Promoted only if AUC holds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Every decision logged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Document examples counted separately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turnover-model-and-promotion-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09-turnover-model-and-promotion-gate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Token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3657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Total, today, this week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Split by feature</a:t>
            </a:r>
          </a:p>
          <a:p>
            <a:pPr algn="l">
              <a:spcAft>
                <a:spcPts val="1600"/>
              </a:spcAft>
              <a:defRPr sz="1700" b="0">
                <a:solidFill>
                  <a:srgbClr val="F2F5F4"/>
                </a:solidFill>
                <a:latin typeface="Segoe UI"/>
              </a:defRPr>
            </a:pPr>
            <a:r>
              <a:t>The model that actually served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5736" y="2185416"/>
            <a:ext cx="6647688" cy="4195953"/>
          </a:xfrm>
          <a:prstGeom prst="roundRect">
            <a:avLst/>
          </a:prstGeom>
          <a:solidFill>
            <a:srgbClr val="161C1B"/>
          </a:solidFill>
          <a:ln w="15875">
            <a:solidFill>
              <a:srgbClr val="A7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token-usage-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  <p:pic>
        <p:nvPicPr>
          <p:cNvPr id="7" name="10-token-usage-meter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800600" y="2240280"/>
            <a:ext cx="6537960" cy="408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5939" y="1956816"/>
            <a:ext cx="6659817" cy="4224528"/>
          </a:xfrm>
          <a:prstGeom prst="roundRect">
            <a:avLst/>
          </a:prstGeom>
          <a:solidFill>
            <a:srgbClr val="161C1B"/>
          </a:solidFill>
          <a:ln w="1270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03" y="2011680"/>
            <a:ext cx="655009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A79BFF"/>
                </a:solidFill>
                <a:latin typeface="Segoe UI"/>
              </a:defRPr>
            </a:pPr>
            <a:r>
              <a:t>BACKUP · NOT IN THE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2F5F4"/>
                </a:solidFill>
                <a:latin typeface="Segoe UI"/>
              </a:defRPr>
            </a:pPr>
            <a:r>
              <a:t>Exit Notes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5939" y="1956816"/>
            <a:ext cx="6659817" cy="4224528"/>
          </a:xfrm>
          <a:prstGeom prst="roundRect">
            <a:avLst/>
          </a:prstGeom>
          <a:solidFill>
            <a:srgbClr val="161C1B"/>
          </a:solidFill>
          <a:ln w="12700">
            <a:solidFill>
              <a:srgbClr val="2A3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itno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803" y="2011680"/>
            <a:ext cx="655009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