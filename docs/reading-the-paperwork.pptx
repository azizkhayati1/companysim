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Name, team, one sentence on what the next 24 minutes are for. Do not narrate the agenda.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employee resigning costs recruitment, onboarding, lost productivity, and knowledge nobody wrote down. Turnover is expensive, consequential and partly predictable — which is why every HR platform wants a model for it.</a:t>
            </a:r>
          </a:p>
          <a:p/>
          <a:p>
            <a:r>
              <a:t>FIND A REAL, CITABLE FIGURE. An invented one is the first thing a jury challenges.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obstacle is not modelling. Published turnover work runs on a handful of public datasets — the most-used has ~1,470 rows and is itself synthetic — while real organisations hold enormous archives that are prose, PDF and paper.</a:t>
            </a:r>
          </a:p>
          <a:p/>
          <a:p>
            <a:r>
              <a:t>Say the last line slowly. It is the thesis of the whole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platform simulates an organisation week by week, so employees actually resign inside the model. The classifier trains on real events rather than a risk score somebody assigned — the difference between learning something and restating an assumption.</a:t>
            </a:r>
          </a:p>
          <a:p/>
          <a:p>
            <a:r>
              <a:t>It worked. Everything in it came from its own simulation.</a:t>
            </a:r>
          </a:p>
          <a:p/>
          <a:p>
            <a:r>
              <a:t>80 seconds. Resist explaining the simulation; it is context, not the contribution.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With no review history, the scoring layer supplied a neutral 3 out of 5 for everybody. Three of eighteen features were the same number for every employee — a tree never splits on them, so the effective feature count was fifteen.</a:t>
            </a:r>
          </a:p>
          <a:p/>
          <a:p>
            <a:r>
              <a:t>A declining rating is one of the more reliable early signals of resignation, so the missing signal was not arbitrary.</a:t>
            </a:r>
          </a:p>
          <a:p/>
          <a:p>
            <a:r>
              <a:t>THIS IS THE PIVOT.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Documents arrive as CSV, PDF, free text or a photograph. Structured files parse deterministically — a roster needs no model and no API key. Prose goes to a language model. Both routes end in the same place: a staging table.</a:t>
            </a:r>
          </a:p>
          <a:p/>
          <a:p>
            <a:r>
              <a:t>There is no code path from extraction to a personnel record.</a:t>
            </a:r>
          </a:p>
          <a:p/>
          <a:p>
            <a:r>
              <a:t>You will point back at this slide three times.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Narrate what is happening, not what you are clicking. Pause on the evidence span: every proposed change carries the exact sentence it came from, so approving is a decision rather than an act of faith.</a:t>
            </a:r>
          </a:p>
          <a:p/>
          <a:p>
            <a:r>
              <a:t>RECORD THIS IN ADVANCE. A live call to a cloud model on conference wifi is a two-minute silence waiting to happen. Keep it under 2:00.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property of the architecture, not a rule someone follows. Both parsers write only to staging; the apply endpoint is the only writer of employee data and acts only on facts approved by identifier.</a:t>
            </a:r>
          </a:p>
          <a:p/>
          <a:p>
            <a:r>
              <a:t>For a vendor holding client personnel data under GDPR that is not a nice-to-have. Say the GDPR line looking at the business half of the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resignation letter says the author was exhausted and unsupported. Workload and manager support are legitimate features — so why not use them?</a:t>
            </a:r>
          </a:p>
          <a:p/>
          <a:p>
            <a:r>
              <a:t>Because the letter is written AT the moment of the outcome. A model trained on it learns that people who write about exhaustion in resignation letters resign. Excellent AUC, zero predictive value — at scoring time no such letter exists.</a:t>
            </a:r>
          </a:p>
          <a:p/>
          <a:p>
            <a:r>
              <a:t>So the schema has nowhere to put those values. TWO FULL MINUTES. If a jury remembers one thing, this is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 organisation never receives a resignation letter from someone who stayed. A training set built from letters alone is 100% positive — the model learns that everybody leaves.</a:t>
            </a:r>
          </a:p>
          <a:p/>
          <a:p>
            <a:r>
              <a:t>So cohort construction refuses to build a training set unless a roster establishes who did NOT leave, and refuses outright above a 50% base rate.</a:t>
            </a:r>
          </a:p>
          <a:p/>
          <a:p>
            <a:r>
              <a:t>The most accessible idea in the talk. If you must cut slide 09, this survives.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My favourite failure. I told the model to report a missing field. It complied semantically and failed structurally — it put the refusal INSIDE the field. Schema validation passed, because that is a perfectly valid string.</a:t>
            </a:r>
          </a:p>
          <a:p/>
          <a:p>
            <a:r>
              <a:t>The fix was not a better prompt. The department is now resolved against departments that actually exist. Prompt wording constrains one phrasing of a failure; a structural check constrains the whole class.</a:t>
            </a:r>
          </a:p>
          <a:p/>
          <a:p>
            <a:r>
              <a:t>Tell it as an anecdote — the one place in the talk to sound amused.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Plenty of HR records are still paper, so a photograph produces the same text a typed document would and travels the identical route. Paper is a front door, not a second pipeline.</a:t>
            </a:r>
          </a:p>
          <a:p/>
          <a:p>
            <a:r>
              <a:t>What differs is confidence, and it differs automatically. OCR can turn a three into an eight in a salary and nothing downstream would catch it — both are valid numbers. So the discount is applied at the one point every extraction path funnels through.</a:t>
            </a:r>
          </a:p>
          <a:p/>
          <a:p>
            <a:r>
              <a:t>And the model provider is a configuration setting: a client who requires everything inside their own AWS account gets that without a code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generated documents across six types, and about one in six was built to be REFUSED — a review with no rating, a redundancy notice, a letter from someone who does not work here.</a:t>
            </a:r>
          </a:p>
          <a:p/>
          <a:p>
            <a:r>
              <a:t>A corpus of happy paths proves nothing about whether a parser invents data when a document is deficient. All seventeen refusals behaved correctly, with specific reasons rather than a generic failure.</a:t>
            </a:r>
          </a:p>
          <a:p/>
          <a:p>
            <a:r>
              <a:t>Say “designed to fail” out 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106 documents all tested CONTENT. So I built a second corpus that tests the CONTAINER — delimiters, encodings, locales, scales, page layout.</a:t>
            </a:r>
          </a:p>
          <a:p/>
          <a:p>
            <a:r>
              <a:t>It found this before a single file was uploaded. The parser strips every comma as a thousands separator, so a French salary is read a hundred times too large — worse than a refusal, because the wrong number reaches a reviewer looking completely plausible.</a:t>
            </a:r>
          </a:p>
          <a:p/>
          <a:p>
            <a:r>
              <a:t>Every one of my first 106 documents was UTF-8, comma-delimited and in English, because that is what you write when inventing plausible documents.</a:t>
            </a:r>
          </a:p>
          <a:p/>
          <a:p>
            <a:r>
              <a:t>Say plainly that it is still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Twelve employees now have two-period histories with real deltas instead of a hard-coded zero. The promotion gate records document-sourced examples separately, so a change in AUC can be attributed to a source — while the fixed synthetic evaluation cohort never sees ingested data, so documents can improve the model or do nothing, but cannot quietly degrade production.</a:t>
            </a:r>
          </a:p>
          <a:p/>
          <a:p>
            <a:r>
              <a:t>CALL BACK TO SLIDE 05 EXPLICITLY: “those three constants”.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things I would not claim. The sentiment analysis is a small hand-built lexicon and it fails on real prose — a letter saying the author was “tired in a way a holiday does not fix” scores zero. At 24 documents that is most of them.</a:t>
            </a:r>
          </a:p>
          <a:p/>
          <a:p>
            <a:r>
              <a:t>And I have not shown an improvement in predicting real turnover. That needs a real organisation's documents and a real outcome window.</a:t>
            </a:r>
          </a:p>
          <a:p/>
          <a:p>
            <a:r>
              <a:t>DO NOT SKIP THIS SLIDE. Naming your own limits before a jury does is the cheapest credibility you will buy all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pitch in one line: this turns an archive a client is already paying to store into something their analytics can use, with an audit trail that survives a data-protection review.</a:t>
            </a:r>
          </a:p>
          <a:p/>
          <a:p>
            <a:r>
              <a:t>And because the cost per document is measured rather than estimated, a client can be quoted before a pilot rather than after it.</a:t>
            </a:r>
          </a:p>
          <a:p/>
          <a:p>
            <a:r>
              <a:t>Four claims, no more — each answers a question a buyer actually 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highest-return next step is the sentiment model, because 83% of what we ingest currently produces no signal.</a:t>
            </a:r>
          </a:p>
          <a:p/>
          <a:p>
            <a:r>
              <a:t>And if you take one idea away: every safety property in this pipeline is structural. A letter cannot leak a feature because the schema has no feature fields. A batch of letters cannot become a training set because the base rate is checked. Each could have been a rule in a document — and each would eventually have been forgotten.</a:t>
            </a:r>
          </a:p>
          <a:p/>
          <a:p>
            <a:r>
              <a:t>STOP TALKING AFTER THAT SENTENCE. Leave the line up; let the silence be the invitation.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slide — not in the 24-minute run. Use only if asked.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slide — not in the 24-minute run. Use only if asked.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slide — not in the 24-minute run. Use only if asked.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slide — not in the 24-minute run. Use only if asked.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1965960"/>
            <a:ext cx="1371600" cy="63500"/>
          </a:xfrm>
          <a:prstGeom prst="rect">
            <a:avLst/>
          </a:prstGeom>
          <a:solidFill>
            <a:srgbClr val="A7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45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A79BFF"/>
                </a:solidFill>
                <a:latin typeface="Segoe UI"/>
              </a:defRPr>
            </a:pPr>
            <a:r>
              <a:t>END-OF-STUDIES INTERNSHIP  ·  SOPRA HR SOFTWARE × ESPRIT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4577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6000" b="1">
                <a:solidFill>
                  <a:srgbClr val="F2F5F4"/>
                </a:solidFill>
                <a:latin typeface="Segoe UI"/>
              </a:defRPr>
            </a:pPr>
            <a:r>
              <a:t>Reading the Paperwork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57600"/>
            <a:ext cx="78638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98A3A1"/>
                </a:solidFill>
                <a:latin typeface="Segoe UI"/>
              </a:defRPr>
            </a:pPr>
            <a:r>
              <a:t>Turning unstructured HR documents — including photographs of paper — into machine-learning features.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66928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700" b="1">
                <a:solidFill>
                  <a:srgbClr val="F2F5F4"/>
                </a:solidFill>
                <a:latin typeface="Segoe UI"/>
              </a:defRPr>
            </a:pPr>
            <a:r>
              <a:t>[Your name]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6D7877"/>
                </a:solidFill>
                <a:latin typeface="Segoe UI"/>
              </a:defRPr>
            </a:pPr>
            <a:r>
              <a:t>Supervisors: [company] · [academic]      [date]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A79BFF"/>
                </a:solidFill>
                <a:latin typeface="Segoe UI"/>
              </a:defRPr>
            </a:pPr>
            <a:r>
              <a:t>ACT I · THE PROBLEM WORTH MONEY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2F5F4"/>
                </a:solidFill>
                <a:latin typeface="Segoe UI"/>
              </a:defRPr>
            </a:pPr>
            <a:r>
              <a:t>Start with the cost, not the technology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88575" y="566928"/>
            <a:ext cx="1371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100" b="1">
                <a:solidFill>
                  <a:srgbClr val="6D7877"/>
                </a:solidFill>
                <a:latin typeface="Segoe UI"/>
              </a:defRPr>
            </a:pPr>
            <a:r>
              <a:t>0:20  ·  1:00</a:t>
            </a:r>
          </a:p>
          <a:p>
            <a:pPr algn="r">
              <a:spcAft>
                <a:spcPts val="0"/>
              </a:spcAft>
              <a:defRPr sz="1000" b="0">
                <a:solidFill>
                  <a:srgbClr val="6D7877"/>
                </a:solidFill>
                <a:latin typeface="Segoe UI"/>
              </a:defRPr>
            </a:pPr>
            <a:r>
              <a:t>slide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10545775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  <a:defRPr sz="8800" b="1">
                <a:solidFill>
                  <a:srgbClr val="A79BFF"/>
                </a:solidFill>
                <a:latin typeface="Segoe UI"/>
              </a:defRPr>
            </a:pPr>
            <a:r>
              <a:t>[ X ]× monthly salary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8963908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2400" b="0">
                <a:solidFill>
                  <a:srgbClr val="F2F5F4"/>
                </a:solidFill>
                <a:latin typeface="Segoe UI"/>
              </a:defRPr>
            </a:pPr>
            <a:r>
              <a:t>The cost of replacing one departing employee.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6D7877"/>
                </a:solidFill>
                <a:latin typeface="Segoe UI"/>
              </a:defRPr>
            </a:pPr>
            <a:r>
              <a:t>Replace with a sourced figure — SHRM, Gallup, or internal Sopra HR material.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A79BFF"/>
                </a:solidFill>
                <a:latin typeface="Segoe UI"/>
              </a:defRPr>
            </a:pPr>
            <a:r>
              <a:t>ACT 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2F5F4"/>
                </a:solidFill>
                <a:latin typeface="Segoe UI"/>
              </a:defRPr>
            </a:pPr>
            <a:r>
              <a:t>The data exists. It just isn't readable.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88575" y="566928"/>
            <a:ext cx="1371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100" b="1">
                <a:solidFill>
                  <a:srgbClr val="6D7877"/>
                </a:solidFill>
                <a:latin typeface="Segoe UI"/>
              </a:defRPr>
            </a:pPr>
            <a:r>
              <a:t>1:20  ·  1:20</a:t>
            </a:r>
          </a:p>
          <a:p>
            <a:pPr algn="r">
              <a:spcAft>
                <a:spcPts val="0"/>
              </a:spcAft>
              <a:defRPr sz="1000" b="0">
                <a:solidFill>
                  <a:srgbClr val="6D7877"/>
                </a:solidFill>
                <a:latin typeface="Segoe UI"/>
              </a:defRPr>
            </a:pPr>
            <a:r>
              <a:t>slide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9702113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  <a:defRPr sz="1900" b="0">
                <a:solidFill>
                  <a:srgbClr val="F2F5F4"/>
                </a:solidFill>
                <a:latin typeface="Segoe UI"/>
              </a:defRPr>
            </a:pPr>
            <a:r>
              <a:t>—   Thousands of performance reviews</a:t>
            </a:r>
          </a:p>
          <a:p>
            <a:pPr algn="l">
              <a:spcAft>
                <a:spcPts val="1400"/>
              </a:spcAft>
              <a:defRPr sz="1900" b="0">
                <a:solidFill>
                  <a:srgbClr val="F2F5F4"/>
                </a:solidFill>
                <a:latin typeface="Segoe UI"/>
              </a:defRPr>
            </a:pPr>
            <a:r>
              <a:t>—   Every resignation letter ever received</a:t>
            </a:r>
          </a:p>
          <a:p>
            <a:pPr algn="l">
              <a:spcAft>
                <a:spcPts val="1400"/>
              </a:spcAft>
              <a:defRPr sz="1900" b="0">
                <a:solidFill>
                  <a:srgbClr val="F2F5F4"/>
                </a:solidFill>
                <a:latin typeface="Segoe UI"/>
              </a:defRPr>
            </a:pPr>
            <a:r>
              <a:t>—   Every offer letter, every CV</a:t>
            </a:r>
          </a:p>
          <a:p>
            <a:pPr algn="l">
              <a:spcAft>
                <a:spcPts val="1400"/>
              </a:spcAft>
              <a:defRPr sz="1900" b="0">
                <a:solidFill>
                  <a:srgbClr val="F2F5F4"/>
                </a:solidFill>
                <a:latin typeface="Segoe UI"/>
              </a:defRPr>
            </a:pPr>
            <a:r>
              <a:t>—   A great deal of it never digitised at 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120640"/>
            <a:ext cx="84366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2600" b="1">
                <a:solidFill>
                  <a:srgbClr val="A79BFF"/>
                </a:solidFill>
                <a:latin typeface="Segoe UI"/>
              </a:defRPr>
            </a:pPr>
            <a:r>
              <a:t>“The data is not missing. It is unreadable.”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A79BFF"/>
                </a:solidFill>
                <a:latin typeface="Segoe UI"/>
              </a:defRPr>
            </a:pPr>
            <a:r>
              <a:t>ACT 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2F5F4"/>
                </a:solidFill>
                <a:latin typeface="Segoe UI"/>
              </a:defRPr>
            </a:pPr>
            <a:r>
              <a:t>What already existed: the Digital Workforce Twin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88575" y="566928"/>
            <a:ext cx="1371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100" b="1">
                <a:solidFill>
                  <a:srgbClr val="6D7877"/>
                </a:solidFill>
                <a:latin typeface="Segoe UI"/>
              </a:defRPr>
            </a:pPr>
            <a:r>
              <a:t>2:40  ·  1:20</a:t>
            </a:r>
          </a:p>
          <a:p>
            <a:pPr algn="r">
              <a:spcAft>
                <a:spcPts val="0"/>
              </a:spcAft>
              <a:defRPr sz="1000" b="0">
                <a:solidFill>
                  <a:srgbClr val="6D7877"/>
                </a:solidFill>
                <a:latin typeface="Segoe UI"/>
              </a:defRPr>
            </a:pPr>
            <a:r>
              <a:t>slide 04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75108" y="2139696"/>
            <a:ext cx="6441479" cy="4087367"/>
          </a:xfrm>
          <a:prstGeom prst="roundRect">
            <a:avLst/>
          </a:prstGeom>
          <a:solidFill>
            <a:srgbClr val="161C1B"/>
          </a:solidFill>
          <a:ln w="12700">
            <a:solidFill>
              <a:srgbClr val="2A3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t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9972" y="2194560"/>
            <a:ext cx="6331752" cy="39776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6373367"/>
            <a:ext cx="1054577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  <a:defRPr sz="1300" b="0">
                <a:solidFill>
                  <a:srgbClr val="6D7877"/>
                </a:solidFill>
                <a:latin typeface="Segoe UI"/>
              </a:defRPr>
            </a:pPr>
            <a:r>
              <a:t>The platform before this internship — risk scoring, interventions, an MLOps gate.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A79BFF"/>
                </a:solidFill>
                <a:latin typeface="Segoe UI"/>
              </a:defRPr>
            </a:pPr>
            <a:r>
              <a:t>ACT 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2F5F4"/>
                </a:solidFill>
                <a:latin typeface="Segoe UI"/>
              </a:defRPr>
            </a:pPr>
            <a:r>
              <a:t>The gap: three features were constants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88575" y="566928"/>
            <a:ext cx="1371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100" b="1">
                <a:solidFill>
                  <a:srgbClr val="6D7877"/>
                </a:solidFill>
                <a:latin typeface="Segoe UI"/>
              </a:defRPr>
            </a:pPr>
            <a:r>
              <a:t>4:00  ·  1:20</a:t>
            </a:r>
          </a:p>
          <a:p>
            <a:pPr algn="r">
              <a:spcAft>
                <a:spcPts val="0"/>
              </a:spcAft>
              <a:defRPr sz="1000" b="0">
                <a:solidFill>
                  <a:srgbClr val="6D7877"/>
                </a:solidFill>
                <a:latin typeface="Segoe UI"/>
              </a:defRPr>
            </a:pPr>
            <a:r>
              <a:t>slide 05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5669280" cy="1828800"/>
          </a:xfrm>
          <a:prstGeom prst="roundRect">
            <a:avLst/>
          </a:prstGeom>
          <a:solidFill>
            <a:srgbClr val="161C1B"/>
          </a:solidFill>
          <a:ln>
            <a:solidFill>
              <a:srgbClr val="2A3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651760"/>
            <a:ext cx="49377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200" b="1">
                <a:solidFill>
                  <a:srgbClr val="F2F5F4"/>
                </a:solidFill>
                <a:latin typeface="Segoe UI"/>
              </a:defRPr>
            </a:pPr>
            <a:r>
              <a:t>rating_last   =  3.0</a:t>
            </a:r>
          </a:p>
          <a:p>
            <a:pPr algn="l">
              <a:spcAft>
                <a:spcPts val="800"/>
              </a:spcAft>
              <a:defRPr sz="2200" b="1">
                <a:solidFill>
                  <a:srgbClr val="F2F5F4"/>
                </a:solidFill>
                <a:latin typeface="Segoe UI"/>
              </a:defRPr>
            </a:pPr>
            <a:r>
              <a:t>rating_prev   =  3.0</a:t>
            </a:r>
          </a:p>
          <a:p>
            <a:pPr algn="l">
              <a:spcAft>
                <a:spcPts val="0"/>
              </a:spcAft>
              <a:defRPr sz="2200" b="1">
                <a:solidFill>
                  <a:srgbClr val="F2F5F4"/>
                </a:solidFill>
                <a:latin typeface="Segoe UI"/>
              </a:defRPr>
            </a:pPr>
            <a:r>
              <a:t>rating_delta  =  0.0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2514600"/>
            <a:ext cx="44805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  <a:defRPr sz="4600" b="1">
                <a:solidFill>
                  <a:srgbClr val="DE7529"/>
                </a:solidFill>
                <a:latin typeface="Segoe UI"/>
              </a:defRPr>
            </a:pPr>
            <a:r>
              <a:t>3 of 18</a:t>
            </a:r>
          </a:p>
          <a:p>
            <a:pPr algn="l">
              <a:spcAft>
                <a:spcPts val="0"/>
              </a:spcAft>
              <a:defRPr sz="1700" b="0">
                <a:solidFill>
                  <a:srgbClr val="F2F5F4"/>
                </a:solidFill>
                <a:latin typeface="Segoe UI"/>
              </a:defRPr>
            </a:pPr>
            <a:r>
              <a:t>numeric features carried no information at 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9069366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98A3A1"/>
                </a:solidFill>
                <a:latin typeface="Segoe UI"/>
              </a:defRPr>
            </a:pPr>
            <a:r>
              <a:t>The application had no performance-review history to read — so it invented a neutral one for everybody.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A79BFF"/>
                </a:solidFill>
                <a:latin typeface="Segoe UI"/>
              </a:defRPr>
            </a:pPr>
            <a:r>
              <a:t>ACT II · WHAT I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2F5F4"/>
                </a:solidFill>
                <a:latin typeface="Segoe UI"/>
              </a:defRPr>
            </a:pPr>
            <a:r>
              <a:t>The pipeline, in one diagram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88575" y="566928"/>
            <a:ext cx="1371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100" b="1">
                <a:solidFill>
                  <a:srgbClr val="6D7877"/>
                </a:solidFill>
                <a:latin typeface="Segoe UI"/>
              </a:defRPr>
            </a:pPr>
            <a:r>
              <a:t>5:20  ·  1:40</a:t>
            </a:r>
          </a:p>
          <a:p>
            <a:pPr algn="r">
              <a:spcAft>
                <a:spcPts val="0"/>
              </a:spcAft>
              <a:defRPr sz="1000" b="0">
                <a:solidFill>
                  <a:srgbClr val="6D7877"/>
                </a:solidFill>
                <a:latin typeface="Segoe UI"/>
              </a:defRPr>
            </a:pPr>
            <a:r>
              <a:t>slide 06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743200"/>
            <a:ext cx="1920240" cy="1371600"/>
          </a:xfrm>
          <a:prstGeom prst="roundRect">
            <a:avLst/>
          </a:prstGeom>
          <a:solidFill>
            <a:srgbClr val="161C1B"/>
          </a:solidFill>
          <a:ln w="19050">
            <a:solidFill>
              <a:srgbClr val="2A3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2F5F4"/>
                </a:solidFill>
                <a:latin typeface="Segoe UI"/>
              </a:defRPr>
            </a:pPr>
            <a:r>
              <a:t>Document</a:t>
            </a:r>
          </a:p>
          <a:p>
            <a:pPr algn="ctr">
              <a:defRPr sz="1100" b="0">
                <a:solidFill>
                  <a:srgbClr val="F2F5F4"/>
                </a:solidFill>
                <a:latin typeface="Segoe UI"/>
              </a:defRPr>
            </a:pPr>
            <a:r>
              <a:t>CSV · PDF · text · PHOTO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52928" y="2743200"/>
            <a:ext cx="1920240" cy="1371600"/>
          </a:xfrm>
          <a:prstGeom prst="roundRect">
            <a:avLst/>
          </a:prstGeom>
          <a:solidFill>
            <a:srgbClr val="161C1B"/>
          </a:solidFill>
          <a:ln w="19050">
            <a:solidFill>
              <a:srgbClr val="2A3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2F5F4"/>
                </a:solidFill>
                <a:latin typeface="Segoe UI"/>
              </a:defRPr>
            </a:pPr>
            <a:r>
              <a:t>Parse</a:t>
            </a:r>
          </a:p>
          <a:p>
            <a:pPr algn="ctr">
              <a:defRPr sz="1100" b="0">
                <a:solidFill>
                  <a:srgbClr val="F2F5F4"/>
                </a:solidFill>
                <a:latin typeface="Segoe UI"/>
              </a:defRPr>
            </a:pPr>
            <a:r>
              <a:t>rules  or  LLM  or  OCR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82896" y="2743200"/>
            <a:ext cx="2240280" cy="1371600"/>
          </a:xfrm>
          <a:prstGeom prst="roundRect">
            <a:avLst/>
          </a:prstGeom>
          <a:solidFill>
            <a:srgbClr val="A79BFF"/>
          </a:solidFill>
          <a:ln w="19050">
            <a:solidFill>
              <a:srgbClr val="A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B0F0E"/>
                </a:solidFill>
                <a:latin typeface="Segoe UI"/>
              </a:defRPr>
            </a:pPr>
            <a:r>
              <a:t>STAGING</a:t>
            </a:r>
          </a:p>
          <a:p>
            <a:pPr algn="ctr">
              <a:defRPr sz="1100" b="0">
                <a:solidFill>
                  <a:srgbClr val="0B0F0E"/>
                </a:solidFill>
                <a:latin typeface="Segoe UI"/>
              </a:defRPr>
            </a:pPr>
            <a:r>
              <a:t>nothing proceeds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32904" y="2743200"/>
            <a:ext cx="1920240" cy="1371600"/>
          </a:xfrm>
          <a:prstGeom prst="roundRect">
            <a:avLst/>
          </a:prstGeom>
          <a:solidFill>
            <a:srgbClr val="161C1B"/>
          </a:solidFill>
          <a:ln w="19050">
            <a:solidFill>
              <a:srgbClr val="2A3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2F5F4"/>
                </a:solidFill>
                <a:latin typeface="Segoe UI"/>
              </a:defRPr>
            </a:pPr>
            <a:r>
              <a:t>HUMAN</a:t>
            </a:r>
          </a:p>
          <a:p>
            <a:pPr algn="ctr">
              <a:defRPr sz="1100" b="0">
                <a:solidFill>
                  <a:srgbClr val="F2F5F4"/>
                </a:solidFill>
                <a:latin typeface="Segoe UI"/>
              </a:defRPr>
            </a:pPr>
            <a:r>
              <a:t>approves per field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262872" y="2743200"/>
            <a:ext cx="1965960" cy="1371600"/>
          </a:xfrm>
          <a:prstGeom prst="roundRect">
            <a:avLst/>
          </a:prstGeom>
          <a:solidFill>
            <a:srgbClr val="161C1B"/>
          </a:solidFill>
          <a:ln w="19050">
            <a:solidFill>
              <a:srgbClr val="2A3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2F5F4"/>
                </a:solidFill>
                <a:latin typeface="Segoe UI"/>
              </a:defRPr>
            </a:pPr>
            <a:r>
              <a:t>Employees · reviews</a:t>
            </a:r>
          </a:p>
          <a:p>
            <a:pPr algn="ctr">
              <a:defRPr sz="1100" b="0">
                <a:solidFill>
                  <a:srgbClr val="F2F5F4"/>
                </a:solidFill>
                <a:latin typeface="Segoe UI"/>
              </a:defRPr>
            </a:pPr>
            <a:r>
              <a:t>exit notes · cohort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57200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98A3A1"/>
                </a:solidFill>
                <a:latin typeface="Segoe UI"/>
              </a:defRPr>
            </a:pPr>
            <a:r>
              <a:t>Both parsers write only to staging. The apply endpoint is the sole writer of employee data — so “no unreviewed write” is a property of the architecture, not a rule someone follows.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A79BFF"/>
                </a:solidFill>
                <a:latin typeface="Segoe UI"/>
              </a:defRPr>
            </a:pPr>
            <a:r>
              <a:t>ACT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2F5F4"/>
                </a:solidFill>
                <a:latin typeface="Segoe UI"/>
              </a:defRPr>
            </a:pPr>
            <a:r>
              <a:t>Demo — a resignation letter, start to finish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88575" y="566928"/>
            <a:ext cx="1371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100" b="1">
                <a:solidFill>
                  <a:srgbClr val="6D7877"/>
                </a:solidFill>
                <a:latin typeface="Segoe UI"/>
              </a:defRPr>
            </a:pPr>
            <a:r>
              <a:t>7:00  ·  2:30</a:t>
            </a:r>
          </a:p>
          <a:p>
            <a:pPr algn="r">
              <a:spcAft>
                <a:spcPts val="0"/>
              </a:spcAft>
              <a:defRPr sz="1000" b="0">
                <a:solidFill>
                  <a:srgbClr val="6D7877"/>
                </a:solidFill>
                <a:latin typeface="Segoe UI"/>
              </a:defRPr>
            </a:pPr>
            <a:r>
              <a:t>slide 07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0545775" cy="3291840"/>
          </a:xfrm>
          <a:prstGeom prst="roundRect">
            <a:avLst/>
          </a:prstGeom>
          <a:solidFill>
            <a:srgbClr val="161C1B"/>
          </a:solidFill>
          <a:ln w="22225">
            <a:solidFill>
              <a:srgbClr val="DE752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788920"/>
            <a:ext cx="9448495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  <a:defRPr sz="1300" b="1">
                <a:solidFill>
                  <a:srgbClr val="DE7529"/>
                </a:solidFill>
                <a:latin typeface="Segoe UI"/>
              </a:defRPr>
            </a:pPr>
            <a:r>
              <a:t>YOUR CONTENT HERE</a:t>
            </a:r>
          </a:p>
          <a:p>
            <a:pPr algn="l">
              <a:spcAft>
                <a:spcPts val="1000"/>
              </a:spcAft>
              <a:defRPr sz="2100" b="1">
                <a:solidFill>
                  <a:srgbClr val="F2F5F4"/>
                </a:solidFill>
                <a:latin typeface="Segoe UI"/>
              </a:defRPr>
            </a:pPr>
            <a:r>
              <a:t>Embed your screen recording here</a:t>
            </a:r>
          </a:p>
          <a:p>
            <a:pPr algn="l">
              <a:spcAft>
                <a:spcPts val="0"/>
              </a:spcAft>
              <a:defRPr sz="1500" b="0">
                <a:solidFill>
                  <a:srgbClr val="98A3A1"/>
                </a:solidFill>
                <a:latin typeface="Segoe UI"/>
              </a:defRPr>
            </a:pPr>
            <a:r>
              <a:t>Four beats, in order:</a:t>
            </a:r>
            <a:br/>
            <a:r>
              <a:t>1.  Upload a photographed letter — the row appears, marked OCR</a:t>
            </a:r>
            <a:br/>
            <a:r>
              <a:t>2.  Extract — a staged proposal with the source sentence beside it</a:t>
            </a:r>
            <a:br/>
            <a:r>
              <a:t>3.  Approve one field, leave another unticked — apply</a:t>
            </a:r>
            <a:br/>
            <a:r>
              <a:t>4.  The training-cohort panel turns usable</a:t>
            </a:r>
            <a:br/>
            <a:br/>
            <a:r>
              <a:t>Insert → Video → This Device. Set it to start automatically.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A79BFF"/>
                </a:solidFill>
                <a:latin typeface="Segoe UI"/>
              </a:defRPr>
            </a:pPr>
            <a:r>
              <a:t>ACT III · WHY IT CAN BE TRUSTED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2F5F4"/>
                </a:solidFill>
                <a:latin typeface="Segoe UI"/>
              </a:defRPr>
            </a:pPr>
            <a:r>
              <a:t>Principle 1 — nothing is written without a human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88575" y="566928"/>
            <a:ext cx="1371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100" b="1">
                <a:solidFill>
                  <a:srgbClr val="6D7877"/>
                </a:solidFill>
                <a:latin typeface="Segoe UI"/>
              </a:defRPr>
            </a:pPr>
            <a:r>
              <a:t>9:30  ·  1:20</a:t>
            </a:r>
          </a:p>
          <a:p>
            <a:pPr algn="r">
              <a:spcAft>
                <a:spcPts val="0"/>
              </a:spcAft>
              <a:defRPr sz="1000" b="0">
                <a:solidFill>
                  <a:srgbClr val="6D7877"/>
                </a:solidFill>
                <a:latin typeface="Segoe UI"/>
              </a:defRPr>
            </a:pPr>
            <a:r>
              <a:t>slide 08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75108" y="2139696"/>
            <a:ext cx="6441479" cy="4087367"/>
          </a:xfrm>
          <a:prstGeom prst="roundRect">
            <a:avLst/>
          </a:prstGeom>
          <a:solidFill>
            <a:srgbClr val="161C1B"/>
          </a:solidFill>
          <a:ln w="12700">
            <a:solidFill>
              <a:srgbClr val="2A3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ocum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9972" y="2194560"/>
            <a:ext cx="6331752" cy="39776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6373367"/>
            <a:ext cx="1054577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  <a:defRPr sz="1300" b="0">
                <a:solidFill>
                  <a:srgbClr val="6D7877"/>
                </a:solidFill>
                <a:latin typeface="Segoe UI"/>
              </a:defRPr>
            </a:pPr>
            <a:r>
              <a:t>Every staged change carries its current value, its proposed value, a confidence and the source text it came from.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A79BFF"/>
                </a:solidFill>
                <a:latin typeface="Segoe UI"/>
              </a:defRPr>
            </a:pPr>
            <a:r>
              <a:t>ACT III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2F5F4"/>
                </a:solidFill>
                <a:latin typeface="Segoe UI"/>
              </a:defRPr>
            </a:pPr>
            <a:r>
              <a:t>Principle 2 — make the wrong thing unrepresentable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88575" y="566928"/>
            <a:ext cx="1371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100" b="1">
                <a:solidFill>
                  <a:srgbClr val="6D7877"/>
                </a:solidFill>
                <a:latin typeface="Segoe UI"/>
              </a:defRPr>
            </a:pPr>
            <a:r>
              <a:t>10:50  ·  2:00</a:t>
            </a:r>
          </a:p>
          <a:p>
            <a:pPr algn="r">
              <a:spcAft>
                <a:spcPts val="0"/>
              </a:spcAft>
              <a:defRPr sz="1000" b="0">
                <a:solidFill>
                  <a:srgbClr val="6D7877"/>
                </a:solidFill>
                <a:latin typeface="Segoe UI"/>
              </a:defRPr>
            </a:pPr>
            <a:r>
              <a:t>slide 09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31720"/>
            <a:ext cx="5852160" cy="2743200"/>
          </a:xfrm>
          <a:prstGeom prst="roundRect">
            <a:avLst/>
          </a:prstGeom>
          <a:solidFill>
            <a:srgbClr val="161C1B"/>
          </a:solidFill>
          <a:ln>
            <a:solidFill>
              <a:srgbClr val="2A3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560320"/>
            <a:ext cx="51206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  <a:defRPr sz="1600" b="1">
                <a:solidFill>
                  <a:srgbClr val="A79BFF"/>
                </a:solidFill>
                <a:latin typeface="Segoe UI"/>
              </a:defRPr>
            </a:pPr>
            <a:r>
              <a:t>class ResignationLetterExtract:</a:t>
            </a:r>
          </a:p>
          <a:p>
            <a:pPr algn="l">
              <a:spcAft>
                <a:spcPts val="600"/>
              </a:spcAft>
              <a:defRPr sz="1600" b="0">
                <a:solidFill>
                  <a:srgbClr val="F2F5F4"/>
                </a:solidFill>
                <a:latin typeface="Segoe UI"/>
              </a:defRPr>
            </a:pPr>
            <a:r>
              <a:t>    employee_email</a:t>
            </a:r>
          </a:p>
          <a:p>
            <a:pPr algn="l">
              <a:spcAft>
                <a:spcPts val="600"/>
              </a:spcAft>
              <a:defRPr sz="1600" b="0">
                <a:solidFill>
                  <a:srgbClr val="F2F5F4"/>
                </a:solidFill>
                <a:latin typeface="Segoe UI"/>
              </a:defRPr>
            </a:pPr>
            <a:r>
              <a:t>    effective_date</a:t>
            </a:r>
          </a:p>
          <a:p>
            <a:pPr algn="l">
              <a:spcAft>
                <a:spcPts val="600"/>
              </a:spcAft>
              <a:defRPr sz="1600" b="0">
                <a:solidFill>
                  <a:srgbClr val="F2F5F4"/>
                </a:solidFill>
                <a:latin typeface="Segoe UI"/>
              </a:defRPr>
            </a:pPr>
            <a:r>
              <a:t>    is_voluntary</a:t>
            </a:r>
          </a:p>
          <a:p>
            <a:pPr algn="l">
              <a:spcAft>
                <a:spcPts val="1400"/>
              </a:spcAft>
              <a:defRPr sz="1600" b="0">
                <a:solidFill>
                  <a:srgbClr val="F2F5F4"/>
                </a:solidFill>
                <a:latin typeface="Segoe UI"/>
              </a:defRPr>
            </a:pPr>
            <a:r>
              <a:t>    note_text</a:t>
            </a:r>
          </a:p>
          <a:p>
            <a:pPr algn="l">
              <a:spcAft>
                <a:spcPts val="400"/>
              </a:spcAft>
              <a:defRPr sz="1500" b="1">
                <a:solidFill>
                  <a:srgbClr val="DE7529"/>
                </a:solidFill>
                <a:latin typeface="Segoe UI"/>
              </a:defRPr>
            </a:pPr>
            <a:r>
              <a:t>No workload field. No morale field.</a:t>
            </a:r>
          </a:p>
          <a:p>
            <a:pPr algn="l">
              <a:spcAft>
                <a:spcPts val="0"/>
              </a:spcAft>
              <a:defRPr sz="1500" b="1">
                <a:solidFill>
                  <a:srgbClr val="DE7529"/>
                </a:solidFill>
                <a:latin typeface="Segoe UI"/>
              </a:defRPr>
            </a:pPr>
            <a:r>
              <a:t>No feature fields at all.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2468880"/>
            <a:ext cx="42976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  <a:defRPr sz="1900" b="1">
                <a:solidFill>
                  <a:srgbClr val="F2F5F4"/>
                </a:solidFill>
                <a:latin typeface="Segoe UI"/>
              </a:defRPr>
            </a:pPr>
            <a:r>
              <a:t>The letter is written at the moment of the outcome it describes.</a:t>
            </a:r>
          </a:p>
          <a:p>
            <a:pPr algn="l">
              <a:spcAft>
                <a:spcPts val="1400"/>
              </a:spcAft>
              <a:defRPr sz="1600" b="0">
                <a:solidFill>
                  <a:srgbClr val="98A3A1"/>
                </a:solidFill>
                <a:latin typeface="Segoe UI"/>
              </a:defRPr>
            </a:pPr>
            <a:r>
              <a:t>Anything it says about workload or morale is post-outcome information. Using it would be textbook temporal leakage — an excellent AUC that predicts nothing, because at scoring time the letter does not exist yet.</a:t>
            </a:r>
          </a:p>
          <a:p>
            <a:pPr algn="l">
              <a:spcAft>
                <a:spcPts val="0"/>
              </a:spcAft>
              <a:defRPr sz="1600" b="1">
                <a:solidFill>
                  <a:srgbClr val="A79BFF"/>
                </a:solidFill>
                <a:latin typeface="Segoe UI"/>
              </a:defRPr>
            </a:pPr>
            <a:r>
              <a:t>A confused model cannot leak through this path. The field is not there.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A79BFF"/>
                </a:solidFill>
                <a:latin typeface="Segoe UI"/>
              </a:defRPr>
            </a:pPr>
            <a:r>
              <a:t>ACT III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2F5F4"/>
                </a:solidFill>
                <a:latin typeface="Segoe UI"/>
              </a:defRPr>
            </a:pPr>
            <a:r>
              <a:t>Principle 3 — you only get letters from people who left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88575" y="566928"/>
            <a:ext cx="1371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100" b="1">
                <a:solidFill>
                  <a:srgbClr val="6D7877"/>
                </a:solidFill>
                <a:latin typeface="Segoe UI"/>
              </a:defRPr>
            </a:pPr>
            <a:r>
              <a:t>12:50  ·  1:20</a:t>
            </a:r>
          </a:p>
          <a:p>
            <a:pPr algn="r">
              <a:spcAft>
                <a:spcPts val="0"/>
              </a:spcAft>
              <a:defRPr sz="1000" b="0">
                <a:solidFill>
                  <a:srgbClr val="6D7877"/>
                </a:solidFill>
                <a:latin typeface="Segoe UI"/>
              </a:defRPr>
            </a:pPr>
            <a:r>
              <a:t>slide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4892040" cy="2377440"/>
          </a:xfrm>
          <a:prstGeom prst="roundRect">
            <a:avLst/>
          </a:prstGeom>
          <a:solidFill>
            <a:srgbClr val="161C1B"/>
          </a:solidFill>
          <a:ln w="19050">
            <a:solidFill>
              <a:srgbClr val="DE75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697480"/>
            <a:ext cx="41148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700" b="1">
                <a:solidFill>
                  <a:srgbClr val="F2F5F4"/>
                </a:solidFill>
                <a:latin typeface="Segoe UI"/>
              </a:defRPr>
            </a:pPr>
            <a:r>
              <a:t>Letters only</a:t>
            </a:r>
          </a:p>
          <a:p>
            <a:pPr algn="l">
              <a:spcAft>
                <a:spcPts val="1400"/>
              </a:spcAft>
              <a:defRPr sz="1400" b="0">
                <a:solidFill>
                  <a:srgbClr val="98A3A1"/>
                </a:solidFill>
                <a:latin typeface="Segoe UI"/>
              </a:defRPr>
            </a:pPr>
            <a:r>
              <a:t>24 positives · 0 negatives</a:t>
            </a:r>
          </a:p>
          <a:p>
            <a:pPr algn="l">
              <a:spcAft>
                <a:spcPts val="400"/>
              </a:spcAft>
              <a:defRPr sz="5200" b="1">
                <a:solidFill>
                  <a:srgbClr val="DE7529"/>
                </a:solidFill>
                <a:latin typeface="Segoe UI"/>
              </a:defRPr>
            </a:pPr>
            <a:r>
              <a:t>100%</a:t>
            </a:r>
          </a:p>
          <a:p>
            <a:pPr algn="l">
              <a:spcAft>
                <a:spcPts val="0"/>
              </a:spcAft>
              <a:defRPr sz="1300" b="0">
                <a:solidFill>
                  <a:srgbClr val="6D7877"/>
                </a:solidFill>
                <a:latin typeface="Segoe UI"/>
              </a:defRPr>
            </a:pPr>
            <a:r>
              <a:t>base rate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2468880"/>
            <a:ext cx="4892040" cy="2377440"/>
          </a:xfrm>
          <a:prstGeom prst="roundRect">
            <a:avLst/>
          </a:prstGeom>
          <a:solidFill>
            <a:srgbClr val="161C1B"/>
          </a:solidFill>
          <a:ln w="19050">
            <a:solidFill>
              <a:srgbClr val="A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2697480"/>
            <a:ext cx="41148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700" b="1">
                <a:solidFill>
                  <a:srgbClr val="F2F5F4"/>
                </a:solidFill>
                <a:latin typeface="Segoe UI"/>
              </a:defRPr>
            </a:pPr>
            <a:r>
              <a:t>Letters + roster</a:t>
            </a:r>
          </a:p>
          <a:p>
            <a:pPr algn="l">
              <a:spcAft>
                <a:spcPts val="1400"/>
              </a:spcAft>
              <a:defRPr sz="1400" b="0">
                <a:solidFill>
                  <a:srgbClr val="98A3A1"/>
                </a:solidFill>
                <a:latin typeface="Segoe UI"/>
              </a:defRPr>
            </a:pPr>
            <a:r>
              <a:t>24 positives · 377 negatives</a:t>
            </a:r>
          </a:p>
          <a:p>
            <a:pPr algn="l">
              <a:spcAft>
                <a:spcPts val="400"/>
              </a:spcAft>
              <a:defRPr sz="5200" b="1">
                <a:solidFill>
                  <a:srgbClr val="A79BFF"/>
                </a:solidFill>
                <a:latin typeface="Segoe UI"/>
              </a:defRPr>
            </a:pPr>
            <a:r>
              <a:t>5.99%</a:t>
            </a:r>
          </a:p>
          <a:p>
            <a:pPr algn="l">
              <a:spcAft>
                <a:spcPts val="0"/>
              </a:spcAft>
              <a:defRPr sz="1300" b="0">
                <a:solidFill>
                  <a:srgbClr val="6D7877"/>
                </a:solidFill>
                <a:latin typeface="Segoe UI"/>
              </a:defRPr>
            </a:pPr>
            <a:r>
              <a:t>base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212080"/>
            <a:ext cx="9491197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98A3A1"/>
                </a:solidFill>
                <a:latin typeface="Segoe UI"/>
              </a:defRPr>
            </a:pPr>
            <a:r>
              <a:t>The roster is not an optional enrichment of the cohort. It is what makes the labels mean anything at all.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A79BFF"/>
                </a:solidFill>
                <a:latin typeface="Segoe UI"/>
              </a:defRPr>
            </a:pPr>
            <a:r>
              <a:t>ACT III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2F5F4"/>
                </a:solidFill>
                <a:latin typeface="Segoe UI"/>
              </a:defRPr>
            </a:pPr>
            <a:r>
              <a:t>When the model made something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88575" y="566928"/>
            <a:ext cx="1371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100" b="1">
                <a:solidFill>
                  <a:srgbClr val="6D7877"/>
                </a:solidFill>
                <a:latin typeface="Segoe UI"/>
              </a:defRPr>
            </a:pPr>
            <a:r>
              <a:t>14:10  ·  1:20</a:t>
            </a:r>
          </a:p>
          <a:p>
            <a:pPr algn="r">
              <a:spcAft>
                <a:spcPts val="0"/>
              </a:spcAft>
              <a:defRPr sz="1000" b="0">
                <a:solidFill>
                  <a:srgbClr val="6D7877"/>
                </a:solidFill>
                <a:latin typeface="Segoe UI"/>
              </a:defRPr>
            </a:pPr>
            <a:r>
              <a:t>slide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9491197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98A3A1"/>
                </a:solidFill>
                <a:latin typeface="Segoe UI"/>
              </a:defRPr>
            </a:pPr>
            <a:r>
              <a:t>The prompt said: if the department is missing, return an error.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017520"/>
            <a:ext cx="9326880" cy="1143000"/>
          </a:xfrm>
          <a:prstGeom prst="roundRect">
            <a:avLst/>
          </a:prstGeom>
          <a:solidFill>
            <a:srgbClr val="161C1B"/>
          </a:solidFill>
          <a:ln w="19050">
            <a:solidFill>
              <a:srgbClr val="DE75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3246120"/>
            <a:ext cx="8595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2400" b="1">
                <a:solidFill>
                  <a:srgbClr val="DE7529"/>
                </a:solidFill>
                <a:latin typeface="Segoe UI"/>
              </a:defRPr>
            </a:pPr>
            <a:r>
              <a:t>department_name:  "no department stated"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26280"/>
            <a:ext cx="9491197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  <a:defRPr sz="1900" b="1">
                <a:solidFill>
                  <a:srgbClr val="F2F5F4"/>
                </a:solidFill>
                <a:latin typeface="Segoe UI"/>
              </a:defRPr>
            </a:pPr>
            <a:r>
              <a:t>A valid string. It passed schema validation and staged a plausible-looking hire.</a:t>
            </a:r>
          </a:p>
          <a:p>
            <a:pPr algn="l">
              <a:spcAft>
                <a:spcPts val="0"/>
              </a:spcAft>
              <a:defRPr sz="1700" b="0">
                <a:solidFill>
                  <a:srgbClr val="A79BFF"/>
                </a:solidFill>
                <a:latin typeface="Segoe UI"/>
              </a:defRPr>
            </a:pPr>
            <a:r>
              <a:t>Prompt wording constrains one phrasing of a failure. A structural check constrains the whole class of 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A79BFF"/>
                </a:solidFill>
                <a:latin typeface="Segoe UI"/>
              </a:defRPr>
            </a:pPr>
            <a:r>
              <a:t>ACT III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2F5F4"/>
                </a:solidFill>
                <a:latin typeface="Segoe UI"/>
              </a:defRPr>
            </a:pPr>
            <a:r>
              <a:t>Paper, and not being locked 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88575" y="566928"/>
            <a:ext cx="1371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100" b="1">
                <a:solidFill>
                  <a:srgbClr val="6D7877"/>
                </a:solidFill>
                <a:latin typeface="Segoe UI"/>
              </a:defRPr>
            </a:pPr>
            <a:r>
              <a:t>15:30  ·  1:20</a:t>
            </a:r>
          </a:p>
          <a:p>
            <a:pPr algn="r">
              <a:spcAft>
                <a:spcPts val="0"/>
              </a:spcAft>
              <a:defRPr sz="1000" b="0">
                <a:solidFill>
                  <a:srgbClr val="6D7877"/>
                </a:solidFill>
                <a:latin typeface="Segoe UI"/>
              </a:defRPr>
            </a:pPr>
            <a:r>
              <a:t>slide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4892040" cy="2926080"/>
          </a:xfrm>
          <a:prstGeom prst="roundRect">
            <a:avLst/>
          </a:prstGeom>
          <a:solidFill>
            <a:srgbClr val="161C1B"/>
          </a:solidFill>
          <a:ln>
            <a:solidFill>
              <a:srgbClr val="2A3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651760"/>
            <a:ext cx="411480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  <a:defRPr sz="2000" b="1">
                <a:solidFill>
                  <a:srgbClr val="A79BFF"/>
                </a:solidFill>
                <a:latin typeface="Segoe UI"/>
              </a:defRPr>
            </a:pPr>
            <a:r>
              <a:t>Paper</a:t>
            </a:r>
          </a:p>
          <a:p>
            <a:pPr algn="l">
              <a:spcAft>
                <a:spcPts val="0"/>
              </a:spcAft>
              <a:defRPr sz="1500" b="0">
                <a:solidFill>
                  <a:srgbClr val="F2F5F4"/>
                </a:solidFill>
                <a:latin typeface="Segoe UI"/>
              </a:defRPr>
            </a:pPr>
            <a:r>
              <a:t>Photo of a letter  →  transcription  →  the same pipeline.</a:t>
            </a:r>
            <a:br/>
            <a:br/>
            <a:r>
              <a:t>Facts staged at 0.7× confidence, marked text_source = ocr.</a:t>
            </a:r>
            <a:br/>
            <a:br/>
            <a:r>
              <a:t>A scanned PDF with no text layer takes the same route.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2377440"/>
            <a:ext cx="4892040" cy="2926080"/>
          </a:xfrm>
          <a:prstGeom prst="roundRect">
            <a:avLst/>
          </a:prstGeom>
          <a:solidFill>
            <a:srgbClr val="161C1B"/>
          </a:solidFill>
          <a:ln>
            <a:solidFill>
              <a:srgbClr val="2A3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2651760"/>
            <a:ext cx="411480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  <a:defRPr sz="2000" b="1">
                <a:solidFill>
                  <a:srgbClr val="A79BFF"/>
                </a:solidFill>
                <a:latin typeface="Segoe UI"/>
              </a:defRPr>
            </a:pPr>
            <a:r>
              <a:t>Portability</a:t>
            </a:r>
          </a:p>
          <a:p>
            <a:pPr algn="l">
              <a:spcAft>
                <a:spcPts val="0"/>
              </a:spcAft>
              <a:defRPr sz="1500" b="0">
                <a:solidFill>
                  <a:srgbClr val="F2F5F4"/>
                </a:solidFill>
                <a:latin typeface="Segoe UI"/>
              </a:defRPr>
            </a:pPr>
            <a:r>
              <a:t>Groq  ⇄  AWS Bedrock — one environment variable.</a:t>
            </a:r>
            <a:br/>
            <a:br/>
            <a:r>
              <a:t>Credentials resolve through boto3's chain, so an IAM role works in production with no key material on disk.</a:t>
            </a:r>
            <a:br/>
            <a:br/>
            <a:r>
              <a:t>Runs inside the client's own AWS account.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577840"/>
            <a:ext cx="9491197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6D7877"/>
                </a:solidFill>
                <a:latin typeface="Segoe UI"/>
              </a:defRPr>
            </a:pPr>
            <a:r>
              <a:t>Two commercial objections, answered before they are asked: “our clients aren’t digitised” and “we can’t send data to a third party”.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A79BFF"/>
                </a:solidFill>
                <a:latin typeface="Segoe UI"/>
              </a:defRPr>
            </a:pPr>
            <a:r>
              <a:t>ACT IV · WHAT IT PRODUCED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2F5F4"/>
                </a:solidFill>
                <a:latin typeface="Segoe UI"/>
              </a:defRPr>
            </a:pPr>
            <a:r>
              <a:t>Tested against documents built to fail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88575" y="566928"/>
            <a:ext cx="1371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100" b="1">
                <a:solidFill>
                  <a:srgbClr val="6D7877"/>
                </a:solidFill>
                <a:latin typeface="Segoe UI"/>
              </a:defRPr>
            </a:pPr>
            <a:r>
              <a:t>16:50  ·  1:30</a:t>
            </a:r>
          </a:p>
          <a:p>
            <a:pPr algn="r">
              <a:spcAft>
                <a:spcPts val="0"/>
              </a:spcAft>
              <a:defRPr sz="1000" b="0">
                <a:solidFill>
                  <a:srgbClr val="6D7877"/>
                </a:solidFill>
                <a:latin typeface="Segoe UI"/>
              </a:defRPr>
            </a:pPr>
            <a:r>
              <a:t>slide 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2606040" cy="1920240"/>
          </a:xfrm>
          <a:prstGeom prst="roundRect">
            <a:avLst/>
          </a:prstGeom>
          <a:solidFill>
            <a:srgbClr val="161C1B"/>
          </a:solidFill>
          <a:ln>
            <a:solidFill>
              <a:srgbClr val="2A3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788920"/>
            <a:ext cx="21031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4000" b="1">
                <a:solidFill>
                  <a:srgbClr val="A79BFF"/>
                </a:solidFill>
                <a:latin typeface="Segoe UI"/>
              </a:defRPr>
            </a:pPr>
            <a:r>
              <a:t>17/17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98A3A1"/>
                </a:solidFill>
                <a:latin typeface="Segoe UI"/>
              </a:defRPr>
            </a:pPr>
            <a:r>
              <a:t>designed refusals</a:t>
            </a:r>
            <a:br/>
            <a:r>
              <a:t>behaved correctly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11879" y="2560320"/>
            <a:ext cx="2606040" cy="1920240"/>
          </a:xfrm>
          <a:prstGeom prst="roundRect">
            <a:avLst/>
          </a:prstGeom>
          <a:solidFill>
            <a:srgbClr val="161C1B"/>
          </a:solidFill>
          <a:ln>
            <a:solidFill>
              <a:srgbClr val="2A3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86199" y="2788920"/>
            <a:ext cx="21031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4000" b="1">
                <a:solidFill>
                  <a:srgbClr val="A79BFF"/>
                </a:solidFill>
                <a:latin typeface="Segoe UI"/>
              </a:defRPr>
            </a:pPr>
            <a:r>
              <a:t>143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98A3A1"/>
                </a:solidFill>
                <a:latin typeface="Segoe UI"/>
              </a:defRPr>
            </a:pPr>
            <a:r>
              <a:t>documents across</a:t>
            </a:r>
            <a:br/>
            <a:r>
              <a:t>two corpora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560320"/>
            <a:ext cx="2606040" cy="1920240"/>
          </a:xfrm>
          <a:prstGeom prst="roundRect">
            <a:avLst/>
          </a:prstGeom>
          <a:solidFill>
            <a:srgbClr val="161C1B"/>
          </a:solidFill>
          <a:ln>
            <a:solidFill>
              <a:srgbClr val="2A3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2788920"/>
            <a:ext cx="21031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4000" b="1">
                <a:solidFill>
                  <a:srgbClr val="A79BFF"/>
                </a:solidFill>
                <a:latin typeface="Segoe UI"/>
              </a:defRPr>
            </a:pPr>
            <a:r>
              <a:t>343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98A3A1"/>
                </a:solidFill>
                <a:latin typeface="Segoe UI"/>
              </a:defRPr>
            </a:pPr>
            <a:r>
              <a:t>automated tests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89719" y="2560320"/>
            <a:ext cx="2606040" cy="1920240"/>
          </a:xfrm>
          <a:prstGeom prst="roundRect">
            <a:avLst/>
          </a:prstGeom>
          <a:solidFill>
            <a:srgbClr val="161C1B"/>
          </a:solidFill>
          <a:ln>
            <a:solidFill>
              <a:srgbClr val="2A3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64039" y="2788920"/>
            <a:ext cx="21031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4000" b="1">
                <a:solidFill>
                  <a:srgbClr val="A79BFF"/>
                </a:solidFill>
                <a:latin typeface="Segoe UI"/>
              </a:defRPr>
            </a:pPr>
            <a:r>
              <a:t>541s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98A3A1"/>
                </a:solidFill>
                <a:latin typeface="Segoe UI"/>
              </a:defRPr>
            </a:pPr>
            <a:r>
              <a:t>for the full</a:t>
            </a:r>
            <a:br/>
            <a:r>
              <a:t>106-document run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937760"/>
            <a:ext cx="9491197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F2F5F4"/>
                </a:solidFill>
                <a:latin typeface="Segoe UI"/>
              </a:defRPr>
            </a:pPr>
            <a:r>
              <a:t>Three involuntary terminations were refused as quit labels: “an employer-initiated exit, not a voluntary resignation.”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98A3A1"/>
                </a:solidFill>
                <a:latin typeface="Segoe UI"/>
              </a:defRPr>
            </a:pPr>
            <a:r>
              <a:t>A redundancy notice is not a resignation — treating it as a positive label would teach the model that reorganisations are voluntary departures.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A79BFF"/>
                </a:solidFill>
                <a:latin typeface="Segoe UI"/>
              </a:defRPr>
            </a:pPr>
            <a:r>
              <a:t>ACT IV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2F5F4"/>
                </a:solidFill>
                <a:latin typeface="Segoe UI"/>
              </a:defRPr>
            </a:pPr>
            <a:r>
              <a:t>Then a second corpus found the bug the first could not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88575" y="566928"/>
            <a:ext cx="1371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100" b="1">
                <a:solidFill>
                  <a:srgbClr val="6D7877"/>
                </a:solidFill>
                <a:latin typeface="Segoe UI"/>
              </a:defRPr>
            </a:pPr>
            <a:r>
              <a:t>18:20  ·  1:20</a:t>
            </a:r>
          </a:p>
          <a:p>
            <a:pPr algn="r">
              <a:spcAft>
                <a:spcPts val="0"/>
              </a:spcAft>
              <a:defRPr sz="1000" b="0">
                <a:solidFill>
                  <a:srgbClr val="6D7877"/>
                </a:solidFill>
                <a:latin typeface="Segoe UI"/>
              </a:defRPr>
            </a:pPr>
            <a:r>
              <a:t>slide 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9326880" cy="1737360"/>
          </a:xfrm>
          <a:prstGeom prst="roundRect">
            <a:avLst/>
          </a:prstGeom>
          <a:solidFill>
            <a:srgbClr val="161C1B"/>
          </a:solidFill>
          <a:ln w="19050">
            <a:solidFill>
              <a:srgbClr val="DE75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606040"/>
            <a:ext cx="8412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  <a:defRPr sz="2600" b="1">
                <a:solidFill>
                  <a:srgbClr val="F2F5F4"/>
                </a:solidFill>
                <a:latin typeface="Segoe UI"/>
              </a:defRPr>
            </a:pPr>
            <a:r>
              <a:t>1234,56        →        123456.0</a:t>
            </a:r>
          </a:p>
          <a:p>
            <a:pPr algn="l">
              <a:spcAft>
                <a:spcPts val="0"/>
              </a:spcAft>
              <a:defRPr sz="2600" b="1">
                <a:solidFill>
                  <a:srgbClr val="F2F5F4"/>
                </a:solidFill>
                <a:latin typeface="Segoe UI"/>
              </a:defRPr>
            </a:pPr>
            <a:r>
              <a:t>85.000,50      →        85.0005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9702113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  <a:defRPr sz="2200" b="1">
                <a:solidFill>
                  <a:srgbClr val="DE7529"/>
                </a:solidFill>
                <a:latin typeface="Segoe UI"/>
              </a:defRPr>
            </a:pPr>
            <a:r>
              <a:t>A European decimal comma multiplies a salary by one hundred. Silently.</a:t>
            </a:r>
          </a:p>
          <a:p>
            <a:pPr algn="l">
              <a:spcAft>
                <a:spcPts val="0"/>
              </a:spcAft>
              <a:defRPr sz="1800" b="0">
                <a:solidFill>
                  <a:srgbClr val="A79BFF"/>
                </a:solidFill>
                <a:latin typeface="Segoe UI"/>
              </a:defRPr>
            </a:pPr>
            <a:r>
              <a:t>“A corpus that varies content cannot find a defect that lives in the container.”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A79BFF"/>
                </a:solidFill>
                <a:latin typeface="Segoe UI"/>
              </a:defRPr>
            </a:pPr>
            <a:r>
              <a:t>ACT IV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2F5F4"/>
                </a:solidFill>
                <a:latin typeface="Segoe UI"/>
              </a:defRPr>
            </a:pPr>
            <a:r>
              <a:t>The gap from slide 5, closed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88575" y="566928"/>
            <a:ext cx="1371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100" b="1">
                <a:solidFill>
                  <a:srgbClr val="6D7877"/>
                </a:solidFill>
                <a:latin typeface="Segoe UI"/>
              </a:defRPr>
            </a:pPr>
            <a:r>
              <a:t>19:40  ·  1:20</a:t>
            </a:r>
          </a:p>
          <a:p>
            <a:pPr algn="r">
              <a:spcAft>
                <a:spcPts val="0"/>
              </a:spcAft>
              <a:defRPr sz="1000" b="0">
                <a:solidFill>
                  <a:srgbClr val="6D7877"/>
                </a:solidFill>
                <a:latin typeface="Segoe UI"/>
              </a:defRPr>
            </a:pPr>
            <a:r>
              <a:t>slide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6035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F2F5F4"/>
                </a:solidFill>
                <a:latin typeface="Segoe UI"/>
              </a:defRPr>
            </a:pPr>
            <a:r>
              <a:t>Informative numeric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2514600"/>
            <a:ext cx="1463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700" b="0">
                <a:solidFill>
                  <a:srgbClr val="6D7877"/>
                </a:solidFill>
                <a:latin typeface="Segoe UI"/>
              </a:defRPr>
            </a:pPr>
            <a:r>
              <a:t>15 of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2560" y="2514600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  <a:defRPr sz="1700" b="0">
                <a:solidFill>
                  <a:srgbClr val="6D7877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2514600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700" b="1">
                <a:solidFill>
                  <a:srgbClr val="A79BFF"/>
                </a:solidFill>
                <a:latin typeface="Segoe UI"/>
              </a:defRPr>
            </a:pPr>
            <a:r>
              <a:t>18 of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990088"/>
            <a:ext cx="10545775" cy="9525"/>
          </a:xfrm>
          <a:prstGeom prst="rect">
            <a:avLst/>
          </a:prstGeom>
          <a:solidFill>
            <a:srgbClr val="2A3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172968"/>
            <a:ext cx="6035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F2F5F4"/>
                </a:solidFill>
                <a:latin typeface="Segoe UI"/>
              </a:defRPr>
            </a:pPr>
            <a:r>
              <a:t>Performance reviews in the database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3172968"/>
            <a:ext cx="1463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700" b="0">
                <a:solidFill>
                  <a:srgbClr val="6D787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0" y="3172968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  <a:defRPr sz="1700" b="0">
                <a:solidFill>
                  <a:srgbClr val="6D7877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0" y="3172968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700" b="1">
                <a:solidFill>
                  <a:srgbClr val="A79BFF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48456"/>
            <a:ext cx="10545775" cy="9525"/>
          </a:xfrm>
          <a:prstGeom prst="rect">
            <a:avLst/>
          </a:prstGeom>
          <a:solidFill>
            <a:srgbClr val="2A3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831335"/>
            <a:ext cx="6035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F2F5F4"/>
                </a:solidFill>
                <a:latin typeface="Segoe UI"/>
              </a:defRPr>
            </a:pPr>
            <a:r>
              <a:t>Employees with a real rating history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3831335"/>
            <a:ext cx="1463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700" b="0">
                <a:solidFill>
                  <a:srgbClr val="6D787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3831335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  <a:defRPr sz="1700" b="0">
                <a:solidFill>
                  <a:srgbClr val="6D7877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0" y="3831335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700" b="1">
                <a:solidFill>
                  <a:srgbClr val="A79BFF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306823"/>
            <a:ext cx="10545775" cy="9525"/>
          </a:xfrm>
          <a:prstGeom prst="rect">
            <a:avLst/>
          </a:prstGeom>
          <a:solidFill>
            <a:srgbClr val="2A3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489703"/>
            <a:ext cx="6035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F2F5F4"/>
                </a:solidFill>
                <a:latin typeface="Segoe UI"/>
              </a:defRPr>
            </a:pPr>
            <a:r>
              <a:t>…of those, with two periods (a real delta)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4489703"/>
            <a:ext cx="1463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700" b="0">
                <a:solidFill>
                  <a:srgbClr val="6D787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60" y="4489703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  <a:defRPr sz="1700" b="0">
                <a:solidFill>
                  <a:srgbClr val="6D7877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4489703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700" b="1">
                <a:solidFill>
                  <a:srgbClr val="A79BFF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4965192"/>
            <a:ext cx="10545775" cy="9525"/>
          </a:xfrm>
          <a:prstGeom prst="rect">
            <a:avLst/>
          </a:prstGeom>
          <a:solidFill>
            <a:srgbClr val="2A3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394960"/>
            <a:ext cx="9491197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98A3A1"/>
                </a:solidFill>
                <a:latin typeface="Segoe UI"/>
              </a:defRPr>
            </a:pPr>
            <a:r>
              <a:t>The three constants from slide 5 are now measured values — for the employees a document covers.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A79BFF"/>
                </a:solidFill>
                <a:latin typeface="Segoe UI"/>
              </a:defRPr>
            </a:pPr>
            <a:r>
              <a:t>ACT IV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2F5F4"/>
                </a:solidFill>
                <a:latin typeface="Segoe UI"/>
              </a:defRPr>
            </a:pPr>
            <a:r>
              <a:t>What doesn't work yet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88575" y="566928"/>
            <a:ext cx="1371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100" b="1">
                <a:solidFill>
                  <a:srgbClr val="6D7877"/>
                </a:solidFill>
                <a:latin typeface="Segoe UI"/>
              </a:defRPr>
            </a:pPr>
            <a:r>
              <a:t>21:00  ·  1:00</a:t>
            </a:r>
          </a:p>
          <a:p>
            <a:pPr algn="r">
              <a:spcAft>
                <a:spcPts val="0"/>
              </a:spcAft>
              <a:defRPr sz="1000" b="0">
                <a:solidFill>
                  <a:srgbClr val="6D7877"/>
                </a:solidFill>
                <a:latin typeface="Segoe UI"/>
              </a:defRPr>
            </a:pPr>
            <a:r>
              <a:t>slide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9702113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  <a:defRPr sz="1800" b="0">
                <a:solidFill>
                  <a:srgbClr val="F2F5F4"/>
                </a:solidFill>
                <a:latin typeface="Segoe UI"/>
              </a:defRPr>
            </a:pPr>
            <a:r>
              <a:t>—   83% of ingested exit notes yield no theme — the lexicon was tuned on simulated text</a:t>
            </a:r>
          </a:p>
          <a:p>
            <a:pPr algn="l">
              <a:spcAft>
                <a:spcPts val="1400"/>
              </a:spcAft>
              <a:defRPr sz="1800" b="0">
                <a:solidFill>
                  <a:srgbClr val="F2F5F4"/>
                </a:solidFill>
                <a:latin typeface="Segoe UI"/>
              </a:defRPr>
            </a:pPr>
            <a:r>
              <a:t>—   A European decimal comma still corrupts salaries — it has a fixture, not a fix</a:t>
            </a:r>
          </a:p>
          <a:p>
            <a:pPr algn="l">
              <a:spcAft>
                <a:spcPts val="1400"/>
              </a:spcAft>
              <a:defRPr sz="1800" b="0">
                <a:solidFill>
                  <a:srgbClr val="F2F5F4"/>
                </a:solidFill>
                <a:latin typeface="Segoe UI"/>
              </a:defRPr>
            </a:pPr>
            <a:r>
              <a:t>—   Duplicate email addresses can attach a review to the wrong person</a:t>
            </a:r>
          </a:p>
          <a:p>
            <a:pPr algn="l">
              <a:spcAft>
                <a:spcPts val="1400"/>
              </a:spcAft>
              <a:defRPr sz="1800" b="0">
                <a:solidFill>
                  <a:srgbClr val="F2F5F4"/>
                </a:solidFill>
                <a:latin typeface="Segoe UI"/>
              </a:defRPr>
            </a:pPr>
            <a:r>
              <a:t>—   Validation used generated documents, not a real archive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9491197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E7529"/>
                </a:solidFill>
                <a:latin typeface="Segoe UI"/>
              </a:defRPr>
            </a:pPr>
            <a:r>
              <a:t>No improvement in predicting real turnover is claimed. That needs a real organisation’s documents and a prospective outcome window — neither was available.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A79BFF"/>
                </a:solidFill>
                <a:latin typeface="Segoe UI"/>
              </a:defRPr>
            </a:pPr>
            <a:r>
              <a:t>ACT V · WHERE IT GOES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2F5F4"/>
                </a:solidFill>
                <a:latin typeface="Segoe UI"/>
              </a:defRPr>
            </a:pPr>
            <a:r>
              <a:t>Why this is worth money to a client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88575" y="566928"/>
            <a:ext cx="1371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100" b="1">
                <a:solidFill>
                  <a:srgbClr val="6D7877"/>
                </a:solidFill>
                <a:latin typeface="Segoe UI"/>
              </a:defRPr>
            </a:pPr>
            <a:r>
              <a:t>22:00  ·  1:20</a:t>
            </a:r>
          </a:p>
          <a:p>
            <a:pPr algn="r">
              <a:spcAft>
                <a:spcPts val="0"/>
              </a:spcAft>
              <a:defRPr sz="1000" b="0">
                <a:solidFill>
                  <a:srgbClr val="6D7877"/>
                </a:solidFill>
                <a:latin typeface="Segoe UI"/>
              </a:defRPr>
            </a:pPr>
            <a:r>
              <a:t>slide 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5029200" cy="1325880"/>
          </a:xfrm>
          <a:prstGeom prst="roundRect">
            <a:avLst/>
          </a:prstGeom>
          <a:solidFill>
            <a:srgbClr val="161C1B"/>
          </a:solidFill>
          <a:ln>
            <a:solidFill>
              <a:srgbClr val="2A3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715768"/>
            <a:ext cx="4297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  <a:defRPr sz="1700" b="1">
                <a:solidFill>
                  <a:srgbClr val="A79BFF"/>
                </a:solidFill>
                <a:latin typeface="Segoe UI"/>
              </a:defRPr>
            </a:pPr>
            <a:r>
              <a:t>Dormant asset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98A3A1"/>
                </a:solidFill>
                <a:latin typeface="Segoe UI"/>
              </a:defRPr>
            </a:pPr>
            <a:r>
              <a:t>Archives every client already owns become model inputs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2514600"/>
            <a:ext cx="5029200" cy="1325880"/>
          </a:xfrm>
          <a:prstGeom prst="roundRect">
            <a:avLst/>
          </a:prstGeom>
          <a:solidFill>
            <a:srgbClr val="161C1B"/>
          </a:solidFill>
          <a:ln>
            <a:solidFill>
              <a:srgbClr val="2A3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2715768"/>
            <a:ext cx="4297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  <a:defRPr sz="1700" b="1">
                <a:solidFill>
                  <a:srgbClr val="A79BFF"/>
                </a:solidFill>
                <a:latin typeface="Segoe UI"/>
              </a:defRPr>
            </a:pPr>
            <a:r>
              <a:t>Auditable by construction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98A3A1"/>
                </a:solidFill>
                <a:latin typeface="Segoe UI"/>
              </a:defRPr>
            </a:pPr>
            <a:r>
              <a:t>Every value traces to a document and a sentence; nothing is auto-written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114800"/>
            <a:ext cx="5029200" cy="1325880"/>
          </a:xfrm>
          <a:prstGeom prst="roundRect">
            <a:avLst/>
          </a:prstGeom>
          <a:solidFill>
            <a:srgbClr val="161C1B"/>
          </a:solidFill>
          <a:ln>
            <a:solidFill>
              <a:srgbClr val="2A3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4315968"/>
            <a:ext cx="4297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  <a:defRPr sz="1700" b="1">
                <a:solidFill>
                  <a:srgbClr val="A79BFF"/>
                </a:solidFill>
                <a:latin typeface="Segoe UI"/>
              </a:defRPr>
            </a:pPr>
            <a:r>
              <a:t>Their infrastructure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98A3A1"/>
                </a:solidFill>
                <a:latin typeface="Segoe UI"/>
              </a:defRPr>
            </a:pPr>
            <a:r>
              <a:t>Runs inside the client's own AWS account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4114800"/>
            <a:ext cx="5029200" cy="1325880"/>
          </a:xfrm>
          <a:prstGeom prst="roundRect">
            <a:avLst/>
          </a:prstGeom>
          <a:solidFill>
            <a:srgbClr val="161C1B"/>
          </a:solidFill>
          <a:ln>
            <a:solidFill>
              <a:srgbClr val="2A3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4315968"/>
            <a:ext cx="4297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  <a:defRPr sz="1700" b="1">
                <a:solidFill>
                  <a:srgbClr val="A79BFF"/>
                </a:solidFill>
                <a:latin typeface="Segoe UI"/>
              </a:defRPr>
            </a:pPr>
            <a:r>
              <a:t>Known unit cost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98A3A1"/>
                </a:solidFill>
                <a:latin typeface="Segoe UI"/>
              </a:defRPr>
            </a:pPr>
            <a:r>
              <a:t>~460 tokens and ~5 seconds per document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852160"/>
            <a:ext cx="9491197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F2F5F4"/>
                </a:solidFill>
                <a:latin typeface="Segoe UI"/>
              </a:defRPr>
            </a:pPr>
            <a:r>
              <a:t>An archive they already pay to store, made usable — with a trail that survives a data-protection review.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A79BFF"/>
                </a:solidFill>
                <a:latin typeface="Segoe UI"/>
              </a:defRPr>
            </a:pPr>
            <a:r>
              <a:t>ACT 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2F5F4"/>
                </a:solidFill>
                <a:latin typeface="Segoe UI"/>
              </a:defRPr>
            </a:pPr>
            <a:r>
              <a:t>Next, and close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88575" y="566928"/>
            <a:ext cx="1371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100" b="1">
                <a:solidFill>
                  <a:srgbClr val="6D7877"/>
                </a:solidFill>
                <a:latin typeface="Segoe UI"/>
              </a:defRPr>
            </a:pPr>
            <a:r>
              <a:t>23:20  ·  0:40</a:t>
            </a:r>
          </a:p>
          <a:p>
            <a:pPr algn="r">
              <a:spcAft>
                <a:spcPts val="0"/>
              </a:spcAft>
              <a:defRPr sz="1000" b="0">
                <a:solidFill>
                  <a:srgbClr val="6D7877"/>
                </a:solidFill>
                <a:latin typeface="Segoe UI"/>
              </a:defRPr>
            </a:pPr>
            <a:r>
              <a:t>slide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9491197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98A3A1"/>
                </a:solidFill>
                <a:latin typeface="Segoe UI"/>
              </a:defRPr>
            </a:pPr>
            <a:r>
              <a:t>Next  —  replace the exit-note lexicon  ·  fix the decimal comma  ·  resolve duplicate identities  ·  validate on a real, redacted archive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66160"/>
            <a:ext cx="2011680" cy="50800"/>
          </a:xfrm>
          <a:prstGeom prst="rect">
            <a:avLst/>
          </a:prstGeom>
          <a:solidFill>
            <a:srgbClr val="A7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977639"/>
            <a:ext cx="9280282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4000" b="1">
                <a:solidFill>
                  <a:srgbClr val="F2F5F4"/>
                </a:solidFill>
                <a:latin typeface="Segoe UI"/>
              </a:defRPr>
            </a:pPr>
            <a:r>
              <a:t>Make the wrong thing unrepresentable,</a:t>
            </a:r>
          </a:p>
          <a:p>
            <a:pPr algn="l">
              <a:spcAft>
                <a:spcPts val="0"/>
              </a:spcAft>
              <a:defRPr sz="4000" b="1">
                <a:solidFill>
                  <a:srgbClr val="A79BFF"/>
                </a:solidFill>
                <a:latin typeface="Segoe UI"/>
              </a:defRPr>
            </a:pPr>
            <a:r>
              <a:t>rather than detectable.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A79BFF"/>
                </a:solidFill>
                <a:latin typeface="Segoe UI"/>
              </a:defRPr>
            </a:pPr>
            <a:r>
              <a:t>BACKUP · NOT IN THE MAIN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2F5F4"/>
                </a:solidFill>
                <a:latin typeface="Segoe UI"/>
              </a:defRPr>
            </a:pPr>
            <a:r>
              <a:t>Appendix — Scenario Simulator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75108" y="2139696"/>
            <a:ext cx="6441479" cy="4087367"/>
          </a:xfrm>
          <a:prstGeom prst="roundRect">
            <a:avLst/>
          </a:prstGeom>
          <a:solidFill>
            <a:srgbClr val="161C1B"/>
          </a:solidFill>
          <a:ln w="12700">
            <a:solidFill>
              <a:srgbClr val="2A3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imula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9972" y="2194560"/>
            <a:ext cx="6331752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373367"/>
            <a:ext cx="1054577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  <a:defRPr sz="1300" b="0">
                <a:solidFill>
                  <a:srgbClr val="6D7877"/>
                </a:solidFill>
                <a:latin typeface="Segoe UI"/>
              </a:defRPr>
            </a:pPr>
            <a:r>
              <a:t>Build a scenario, forecast it, diagnose it. Run controls sit in the header.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A79BFF"/>
                </a:solidFill>
                <a:latin typeface="Segoe UI"/>
              </a:defRPr>
            </a:pPr>
            <a:r>
              <a:t>BACKUP · NOT IN THE MAIN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2F5F4"/>
                </a:solidFill>
                <a:latin typeface="Segoe UI"/>
              </a:defRPr>
            </a:pPr>
            <a:r>
              <a:t>Appendix — Dashboard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75108" y="2139696"/>
            <a:ext cx="6441479" cy="4087367"/>
          </a:xfrm>
          <a:prstGeom prst="roundRect">
            <a:avLst/>
          </a:prstGeom>
          <a:solidFill>
            <a:srgbClr val="161C1B"/>
          </a:solidFill>
          <a:ln w="12700">
            <a:solidFill>
              <a:srgbClr val="2A3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9972" y="2194560"/>
            <a:ext cx="6331752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373367"/>
            <a:ext cx="1054577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  <a:defRPr sz="1300" b="0">
                <a:solidFill>
                  <a:srgbClr val="6D7877"/>
                </a:solidFill>
                <a:latin typeface="Segoe UI"/>
              </a:defRPr>
            </a:pPr>
            <a:r>
              <a:t>Organisation overview and headline risk.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A79BFF"/>
                </a:solidFill>
                <a:latin typeface="Segoe UI"/>
              </a:defRPr>
            </a:pPr>
            <a:r>
              <a:t>BACKUP · NOT IN THE MAIN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2F5F4"/>
                </a:solidFill>
                <a:latin typeface="Segoe UI"/>
              </a:defRPr>
            </a:pPr>
            <a:r>
              <a:t>Appendix — Exit Notes Insights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75108" y="2139696"/>
            <a:ext cx="6441479" cy="4087367"/>
          </a:xfrm>
          <a:prstGeom prst="roundRect">
            <a:avLst/>
          </a:prstGeom>
          <a:solidFill>
            <a:srgbClr val="161C1B"/>
          </a:solidFill>
          <a:ln w="12700">
            <a:solidFill>
              <a:srgbClr val="2A3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xitno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9972" y="2194560"/>
            <a:ext cx="6331752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373367"/>
            <a:ext cx="1054577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  <a:defRPr sz="1300" b="0">
                <a:solidFill>
                  <a:srgbClr val="6D7877"/>
                </a:solidFill>
                <a:latin typeface="Segoe UI"/>
              </a:defRPr>
            </a:pPr>
            <a:r>
              <a:t>Where ingested resignation letters land — and where the lexicon limitation shows.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A79BFF"/>
                </a:solidFill>
                <a:latin typeface="Segoe UI"/>
              </a:defRPr>
            </a:pPr>
            <a:r>
              <a:t>BACKUP · NOT IN THE MAIN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2F5F4"/>
                </a:solidFill>
                <a:latin typeface="Segoe UI"/>
              </a:defRPr>
            </a:pPr>
            <a:r>
              <a:t>Appendix — Turnover Model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75108" y="2139696"/>
            <a:ext cx="6441479" cy="4087367"/>
          </a:xfrm>
          <a:prstGeom prst="roundRect">
            <a:avLst/>
          </a:prstGeom>
          <a:solidFill>
            <a:srgbClr val="161C1B"/>
          </a:solidFill>
          <a:ln w="12700">
            <a:solidFill>
              <a:srgbClr val="2A3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od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9972" y="2194560"/>
            <a:ext cx="6331752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373367"/>
            <a:ext cx="1054577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  <a:defRPr sz="1300" b="0">
                <a:solidFill>
                  <a:srgbClr val="6D7877"/>
                </a:solidFill>
                <a:latin typeface="Segoe UI"/>
              </a:defRPr>
            </a:pPr>
            <a:r>
              <a:t>The promotion gate and its audit log. Document-sourced examples are counted separately.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